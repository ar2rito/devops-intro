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mp" ContentType="image/bmp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theme/theme2.xml" ContentType="application/vnd.openxmlformats-officedocument.theme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theme/theme3.xml" ContentType="application/vnd.openxmlformats-officedocument.them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8fb8f94bfa4395" /><Relationship Type="http://schemas.openxmlformats.org/officeDocument/2006/relationships/extended-properties" Target="/docProps/app.xml" Id="R5efc5cda94034fd3" /><Relationship Type="http://schemas.openxmlformats.org/officeDocument/2006/relationships/officeDocument" Target="/ppt/presentation.xml" Id="R454c2a18daae43c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21" Type="http://schemas.openxmlformats.org/officeDocument/2006/relationships/theme" Target="theme/theme3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 noEditPoints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 noEditPoints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EditPoints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 noEditPoints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6" name="Footer Placeholder"/>
          <p:cNvSpPr>
            <a:spLocks noGrp="1" noEditPoints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Bashirov Niyaz</a:t>
            </a:r>
          </a:p>
          <a:p>
            <a:r>
              <a:t>Ориентир: 20 секунд.</a:t>
            </a:r>
          </a:p>
          <a:p/>
          <a:p>
            <a:r>
              <a:t>Добрый день. Мы — команда 9. В финальном проекте мы анализировали hh.ru и разработали новую функцию Portfolio Integration: структурированное портфолио прямо внутри отклика на вакансию.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Bashirov Niyaz</a:t>
            </a:r>
          </a:p>
          <a:p>
            <a:r>
              <a:t>Ориентир: 18 секунд.</a:t>
            </a:r>
          </a:p>
          <a:p/>
          <a:p>
            <a:r>
              <a:t>Над проектом работали шесть участников. Мы последовательно прошли весь цикл бизнес-анализа: интервью, use cases, бизнес-правила, BPMN, требования, диалоговую карту, прототип и приоритизацию.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Aleksandrova Marina</a:t>
            </a:r>
          </a:p>
          <a:p>
            <a:r>
              <a:t>Ориентир: 45 секунд.</a:t>
            </a:r>
          </a:p>
          <a:p/>
          <a:p>
            <a:r>
              <a:t>Сейчас путь кандидата состоит из трёх связанных сценариев. Сначала он ищет вакансию, затем отправляет отклик и после этого отслеживает статус. Основной актор — соискатель, вторичный — работодатель. Проблема в том, что проекты добавляются вручную ссылками и не становятся полноценной частью отклика.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Iarovenko Arina</a:t>
            </a:r>
          </a:p>
          <a:p>
            <a:r>
              <a:t>Ориентир: 45 секунд.</a:t>
            </a:r>
          </a:p>
          <a:p/>
          <a:p>
            <a:r>
              <a:t>Мы проверили три гипотезы на трёх респондентах. Ни одна гипотеза не была отклонена: проблемы с персонализацией писем, представлением проектов и обратной связью подтвердились. Для дальнейшей детальной проработки мы выбрали H2 — интеграцию портфолио, потому что для студентов проекты чаще всего заменяют коммерческий опыт.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Iarovenko Arina</a:t>
            </a:r>
          </a:p>
          <a:p>
            <a:r>
              <a:t>Ориентир: 45 секунд.</a:t>
            </a:r>
          </a:p>
          <a:p/>
          <a:p>
            <a:r>
              <a:t>Интервью показали две вещи: проекты — главный способ доказать навыки, а прямое подключение GitHub ожидается пользователями естественно. Поэтому новая функция импортирует только публичные данные, структурирует их, сохраняет блок для повторного использования и показывает выбранные проекты работодателю.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Latipova Aliya</a:t>
            </a:r>
          </a:p>
          <a:p>
            <a:r>
              <a:t>Ориентир: 45 секунд.</a:t>
            </a:r>
          </a:p>
          <a:p/>
          <a:p>
            <a:r>
              <a:t>На высоком уровне новый сценарий расширяет UC-2. Пользователь открывает интеграцию, выбирает источник и даёт согласие, импортирует или вводит проекты вручную, выбирает релевантные, сохраняет блок и отправляет отклик. Работодатель получает портфолио вместе с резюме и письмом.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Latipova Aliya</a:t>
            </a:r>
          </a:p>
          <a:p>
            <a:r>
              <a:t>Ориентир: 45 секунд.</a:t>
            </a:r>
          </a:p>
          <a:p/>
          <a:p>
            <a:r>
              <a:t>Для новой функции особенно важны четыре существующих правила UC-2: авторизация, открытая вакансия, обязательные данные и создание записи только после валидного подтверждения. Кроме того, в прототипе закреплена граница данных: импортируются только публичные сведения, без приватных репозиториев и персональных данных.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Kolesnikov Arsenii</a:t>
            </a:r>
          </a:p>
          <a:p>
            <a:r>
              <a:t>Ориентир: 50 секунд.</a:t>
            </a:r>
          </a:p>
          <a:p/>
          <a:p>
            <a:r>
              <a:t>Это итоговая BPMN-модель после исправлений преподавателя. Здесь один pool и четыре lane, поэтому между участниками процесса используются sequence flows. XOR-шлюз разделяет успешный импорт и ручной ввод. Затем ветви объединяются, портфолио валидируется, сохраняется, прикрепляется к отклику, и процесс завершается просмотром работодателя.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Kolesnikov Arsenii</a:t>
            </a:r>
          </a:p>
          <a:p>
            <a:r>
              <a:t>Ориентир: 50 секунд.</a:t>
            </a:r>
          </a:p>
          <a:p/>
          <a:p>
            <a:r>
              <a:t>В итоговой защите мы выделили десять требований именно новой функции. Они сгруппированы по логике процесса: подключение и импорт, просмотр и fallback, сохранение и отправка. Формулировки используют shall и напрямую трассируются к BPMN и диалоговой карте.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Belyaev Vladimir</a:t>
            </a:r>
          </a:p>
          <a:p>
            <a:r>
              <a:t>Ориентир: 45 секунд.</a:t>
            </a:r>
          </a:p>
          <a:p/>
          <a:p>
            <a:r>
              <a:t>Диалоговая карта показывает уже не backend-процесс, а переходы между экранами. Она покрывает основной путь от вакансии до подтверждения, отказ в доступе, ручной ввод, ошибки валидации и возможность вернуться к редактированию портфолио.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Belyaev Vladimir</a:t>
            </a:r>
          </a:p>
          <a:p>
            <a:r>
              <a:t>Ориентир: 45 секунд.</a:t>
            </a:r>
          </a:p>
          <a:p/>
          <a:p>
            <a:r>
              <a:t>В интерфейс добавлены конкретные элементы. На форме отклика появился вход в портфолио. Затем пользователь выбирает источник и видит границы импортируемых данных. После импорта он отмечает только релевантные проекты и при необходимости пишет короткую заметку работодателю.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Belyaev Vladimir</a:t>
            </a:r>
          </a:p>
          <a:p>
            <a:r>
              <a:t>Ориентир: 45 секунд.</a:t>
            </a:r>
          </a:p>
          <a:p/>
          <a:p>
            <a:r>
              <a:t>Мы отдельно спроектировали неуспешный импорт: пользователь переходит к ручным ссылкам и после валидации возвращается в основной поток. Перед отправкой он видит компактный employer view, а после отправки — подтверждение и переход в Responses. Это throwaway-прототип для проверки логики, а не финальный дизайн.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Belyaev Vladimir</a:t>
            </a:r>
          </a:p>
          <a:p>
            <a:r>
              <a:t>Ориентир: 45 секунд.</a:t>
            </a:r>
          </a:p>
          <a:p/>
          <a:p>
            <a:r>
              <a:t>В интерфейс добавлены конкретные элементы. На форме отклика появился вход в портфолио. Затем пользователь выбирает источник и видит границы импортируемых данных. После импорта он отмечает только релевантные проекты и при необходимости пишет короткую заметку работодателю.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Bashirov Niyaz</a:t>
            </a:r>
          </a:p>
          <a:p>
            <a:r>
              <a:t>Ориентир: 45 секунд.</a:t>
            </a:r>
          </a:p>
          <a:p/>
          <a:p>
            <a:r>
              <a:t>Мы применили трёхуровневую шкалу уже к требованиям новой функции. Семь High закрывают полный GitHub-first сценарий, согласие, границу данных, валидацию и видимость работодателю. Два Medium расширяют источники и устойчивость через ручной fallback. Один Low — редактирование описаний — полезен, но не блокирует MVP.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t>Спикер: Aleksandrova Marina</a:t>
            </a:r>
          </a:p>
          <a:p>
            <a:r>
              <a:t>Ориентир: 35 секунд.</a:t>
            </a:r>
          </a:p>
          <a:p/>
          <a:p>
            <a:r>
              <a:t>В результате мы связали исследование, выбранную гипотезу, правила, BPMN, требования, диалоговую карту и шестисценный прототип в единую трассируемую модель. Следующий шаг — usability-тест со студентами и проверка employer view рекрутером. Главная ценность — понятное доказательство навыков для junior-кандидата и более быстрый просмотр для работодателя.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sldNum="0" hdr="0" ftr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.bm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pic>
        <p:nvPicPr>
          <p:cNvPr id="14" name="Изображение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8562" y="457200"/>
            <a:ext cx="4328352" cy="1314450"/>
          </a:xfrm>
          <a:prstGeom prst="rect">
            <a:avLst/>
          </a:prstGeom>
        </p:spPr>
      </p:pic>
      <p:sp>
        <p:nvSpPr>
          <p:cNvPr id="3" name="Прямоугольник со скругленными углами 2"/>
          <p:cNvSpPr>
            <a:spLocks noGrp="1"/>
          </p:cNvSpPr>
          <p:nvPr/>
        </p:nvSpPr>
        <p:spPr>
          <a:xfrm>
            <a:off x="685800" y="2095500"/>
            <a:ext cx="2743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781050" y="2143125"/>
            <a:ext cx="255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358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BUSINESS ANALYSIS · FINAL DEFENSE</a:t>
            </a:r>
          </a:p>
        </p:txBody>
      </p:sp>
      <p:sp>
        <p:nvSpPr>
          <p:cNvPr id="5" name="Прямоугольник 4"/>
          <p:cNvSpPr>
            <a:spLocks noGrp="1"/>
          </p:cNvSpPr>
          <p:nvPr/>
        </p:nvSpPr>
        <p:spPr>
          <a:xfrm>
            <a:off x="685800" y="2571750"/>
            <a:ext cx="9048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94000"/>
              </a:lnSpc>
              <a:buNone/>
            </a:pPr>
            <a:r>
              <a:rPr sz="4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Portfolio Integration</a:t>
            </a:r>
          </a:p>
          <a:p>
            <a:pPr algn="l">
              <a:lnSpc>
                <a:spcPct val="94000"/>
              </a:lnSpc>
              <a:buNone/>
            </a:pPr>
            <a:r>
              <a:rPr sz="4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for hh.ru</a:t>
            </a:r>
          </a:p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685800" y="39814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 structured way for junior candidates to prove practical skills</a:t>
            </a:r>
          </a:p>
        </p:txBody>
      </p:sp>
      <p:sp>
        <p:nvSpPr>
          <p:cNvPr id="8" name="Прямоугольник 7"/>
          <p:cNvSpPr>
            <a:spLocks noGrp="1"/>
          </p:cNvSpPr>
          <p:nvPr/>
        </p:nvSpPr>
        <p:spPr>
          <a:xfrm>
            <a:off x="688562" y="4457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20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TEAM 9</a:t>
            </a:r>
            <a:endParaRPr sz="1400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688562" y="6322483"/>
            <a:ext cx="179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Innopolis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INTRODUCTION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Team 9: six analysts, one end-to-end model</a:t>
            </a:r>
          </a:p>
        </p:txBody>
      </p:sp>
      <p:sp>
        <p:nvSpPr>
          <p:cNvPr id="4" name="Линия 3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Прямоугольник 5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10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pic>
        <p:nvPicPr>
          <p:cNvPr id="35" name="Изображение 3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8" name="Прямоугольник 7"/>
          <p:cNvSpPr>
            <a:spLocks noGrp="1"/>
          </p:cNvSpPr>
          <p:nvPr/>
        </p:nvSpPr>
        <p:spPr>
          <a:xfrm>
            <a:off x="742950" y="2047875"/>
            <a:ext cx="2286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45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9" name="Прямоугольник 8"/>
          <p:cNvSpPr>
            <a:spLocks noGrp="1"/>
          </p:cNvSpPr>
          <p:nvPr/>
        </p:nvSpPr>
        <p:spPr>
          <a:xfrm>
            <a:off x="781050" y="3524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TEAM MEMBERS</a:t>
            </a: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781050" y="39052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Research · Process · Requirements · Prototype</a:t>
            </a: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3714750" y="2152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3714750" y="2457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Bashirov Niyaz</a:t>
            </a:r>
          </a:p>
        </p:txBody>
      </p:sp>
      <p:sp>
        <p:nvSpPr>
          <p:cNvPr id="13" name="Линия 12"/>
          <p:cNvSpPr>
            <a:spLocks noGrp="1"/>
          </p:cNvSpPr>
          <p:nvPr/>
        </p:nvSpPr>
        <p:spPr>
          <a:xfrm>
            <a:off x="3714750" y="2933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7524750" y="2152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7524750" y="2457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Aleksandrova Marina</a:t>
            </a:r>
          </a:p>
        </p:txBody>
      </p:sp>
      <p:sp>
        <p:nvSpPr>
          <p:cNvPr id="16" name="Линия 15"/>
          <p:cNvSpPr>
            <a:spLocks noGrp="1"/>
          </p:cNvSpPr>
          <p:nvPr/>
        </p:nvSpPr>
        <p:spPr>
          <a:xfrm>
            <a:off x="7524750" y="2933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3714750" y="3295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3714750" y="3600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Iarovenko Arina</a:t>
            </a:r>
          </a:p>
        </p:txBody>
      </p:sp>
      <p:sp>
        <p:nvSpPr>
          <p:cNvPr id="19" name="Линия 18"/>
          <p:cNvSpPr>
            <a:spLocks noGrp="1"/>
          </p:cNvSpPr>
          <p:nvPr/>
        </p:nvSpPr>
        <p:spPr>
          <a:xfrm>
            <a:off x="3714750" y="4076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7524750" y="3295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7524750" y="3600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Latipova Aliya</a:t>
            </a:r>
          </a:p>
        </p:txBody>
      </p:sp>
      <p:sp>
        <p:nvSpPr>
          <p:cNvPr id="22" name="Линия 21"/>
          <p:cNvSpPr>
            <a:spLocks noGrp="1"/>
          </p:cNvSpPr>
          <p:nvPr/>
        </p:nvSpPr>
        <p:spPr>
          <a:xfrm>
            <a:off x="7524750" y="4076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3714750" y="4438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3714750" y="4743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Kolesnikov Arsenii</a:t>
            </a:r>
          </a:p>
        </p:txBody>
      </p:sp>
      <p:sp>
        <p:nvSpPr>
          <p:cNvPr id="25" name="Линия 24"/>
          <p:cNvSpPr>
            <a:spLocks noGrp="1"/>
          </p:cNvSpPr>
          <p:nvPr/>
        </p:nvSpPr>
        <p:spPr>
          <a:xfrm>
            <a:off x="3714750" y="5219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7524750" y="4438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7524750" y="4743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Belyaev Vladimir</a:t>
            </a:r>
          </a:p>
        </p:txBody>
      </p:sp>
      <p:sp>
        <p:nvSpPr>
          <p:cNvPr id="28" name="Линия 27"/>
          <p:cNvSpPr>
            <a:spLocks noGrp="1"/>
          </p:cNvSpPr>
          <p:nvPr/>
        </p:nvSpPr>
        <p:spPr>
          <a:xfrm>
            <a:off x="7524750" y="5219700"/>
            <a:ext cx="31051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CURRENT SYSTEM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996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The current hh.ru journey has three dependent stages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current scope covers vacancy discovery, application submission and response tracking.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39" name="Изображение 3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Линия 8"/>
          <p:cNvSpPr>
            <a:spLocks noGrp="1"/>
          </p:cNvSpPr>
          <p:nvPr/>
        </p:nvSpPr>
        <p:spPr>
          <a:xfrm>
            <a:off x="2000250" y="3000375"/>
            <a:ext cx="8134350" cy="0"/>
          </a:xfrm>
          <a:prstGeom prst="line">
            <a:avLst/>
          </a:prstGeom>
          <a:noFill/>
          <a:ln w="76200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Нашивка 9"/>
          <p:cNvSpPr>
            <a:spLocks noGrp="1"/>
          </p:cNvSpPr>
          <p:nvPr/>
        </p:nvSpPr>
        <p:spPr>
          <a:xfrm>
            <a:off x="10058400" y="2895600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Прямоугольник со скругленными углами 10"/>
          <p:cNvSpPr>
            <a:spLocks noGrp="1"/>
          </p:cNvSpPr>
          <p:nvPr/>
        </p:nvSpPr>
        <p:spPr>
          <a:xfrm>
            <a:off x="838200" y="2305050"/>
            <a:ext cx="29527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1009650" y="24669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UC-1</a:t>
            </a: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1009650" y="27622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Find a Vacancy</a:t>
            </a: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1009650" y="3086100"/>
            <a:ext cx="2609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Search, filter, open and evaluate a vacancy</a:t>
            </a:r>
          </a:p>
        </p:txBody>
      </p:sp>
      <p:sp>
        <p:nvSpPr>
          <p:cNvPr id="15" name="Прямоугольник со скругленными углами 14"/>
          <p:cNvSpPr>
            <a:spLocks noGrp="1"/>
          </p:cNvSpPr>
          <p:nvPr/>
        </p:nvSpPr>
        <p:spPr>
          <a:xfrm>
            <a:off x="4533900" y="2305050"/>
            <a:ext cx="29527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4705350" y="24669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UC-2</a:t>
            </a: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4705350" y="27622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Submit an Application</a:t>
            </a: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4705350" y="3086100"/>
            <a:ext cx="2609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Resume, cover letter and optional manual links</a:t>
            </a:r>
          </a:p>
        </p:txBody>
      </p:sp>
      <p:sp>
        <p:nvSpPr>
          <p:cNvPr id="19" name="Прямоугольник со скругленными углами 18"/>
          <p:cNvSpPr>
            <a:spLocks noGrp="1"/>
          </p:cNvSpPr>
          <p:nvPr/>
        </p:nvSpPr>
        <p:spPr>
          <a:xfrm>
            <a:off x="8229600" y="2305050"/>
            <a:ext cx="29527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8401050" y="24669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UC-3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8401050" y="27622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Review Status</a:t>
            </a: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8401050" y="3086100"/>
            <a:ext cx="2609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Track status and available employer updates</a:t>
            </a: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895350" y="40576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PRIMARY ACTOR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895350" y="43053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Job Seeker</a:t>
            </a: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4514850" y="40576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SYSTEM</a:t>
            </a:r>
          </a:p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4514850" y="43053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hh.ru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8210550" y="40576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SECONDARY ACTOR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8210550" y="43053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Employer</a:t>
            </a:r>
          </a:p>
        </p:txBody>
      </p:sp>
      <p:sp>
        <p:nvSpPr>
          <p:cNvPr id="29" name="Прямоугольник со скругленными углами 28"/>
          <p:cNvSpPr>
            <a:spLocks noGrp="1"/>
          </p:cNvSpPr>
          <p:nvPr/>
        </p:nvSpPr>
        <p:spPr>
          <a:xfrm>
            <a:off x="838200" y="5000625"/>
            <a:ext cx="10344150" cy="781050"/>
          </a:xfrm>
          <a:prstGeom prst="roundRect">
            <a:avLst>
              <a:gd name="adj" fmla="val 14634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1009650" y="5248275"/>
            <a:ext cx="1285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Current gap</a:t>
            </a:r>
            <a:endParaRPr sz="1800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2381250" y="5172075"/>
            <a:ext cx="862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357"/>
          </a:bodyPr>
          <a:lstStyle/>
          <a:p>
            <a:pPr algn="l">
              <a:buNone/>
            </a:pPr>
            <a:r>
              <a:rPr sz="18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Project evidence is usually pasted as manual links, so it remains unstructured and easy to overlook.</a:t>
            </a:r>
            <a:endParaRPr sz="1500" b="0" i="0">
              <a:solidFill>
                <a:srgbClr val="111513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RESEARCH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88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Three hypotheses supported; H2 guided the design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Three student respondents from the target audience tested the current hh.ru experience.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40" name="Изображение 3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со скругленными углами 8"/>
          <p:cNvSpPr>
            <a:spLocks noGrp="1"/>
          </p:cNvSpPr>
          <p:nvPr/>
        </p:nvSpPr>
        <p:spPr>
          <a:xfrm>
            <a:off x="9067800" y="371475"/>
            <a:ext cx="1257300" cy="266700"/>
          </a:xfrm>
          <a:prstGeom prst="roundRect">
            <a:avLst>
              <a:gd name="adj" fmla="val 50000"/>
            </a:avLst>
          </a:prstGeom>
          <a:solidFill>
            <a:srgbClr val="EFF2E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9163050" y="4191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827"/>
          </a:bodyPr>
          <a:lstStyle/>
          <a:p>
            <a:pPr algn="ctr">
              <a:buNone/>
            </a:pPr>
            <a:r>
              <a:rPr sz="9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3 RESPONDENTS</a:t>
            </a:r>
          </a:p>
        </p:txBody>
      </p:sp>
      <p:sp>
        <p:nvSpPr>
          <p:cNvPr id="11" name="Прямоугольник со скругленными углами 10"/>
          <p:cNvSpPr>
            <a:spLocks noGrp="1"/>
          </p:cNvSpPr>
          <p:nvPr/>
        </p:nvSpPr>
        <p:spPr>
          <a:xfrm>
            <a:off x="10420350" y="371475"/>
            <a:ext cx="1219200" cy="266700"/>
          </a:xfrm>
          <a:prstGeom prst="roundRect">
            <a:avLst>
              <a:gd name="adj" fmla="val 50000"/>
            </a:avLst>
          </a:prstGeom>
          <a:solidFill>
            <a:srgbClr val="EFF2E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10515600" y="419100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2958"/>
          </a:bodyPr>
          <a:lstStyle/>
          <a:p>
            <a:pPr algn="ctr">
              <a:buNone/>
            </a:pPr>
            <a:r>
              <a:rPr sz="9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&gt;10 MIN INTERVIEW</a:t>
            </a:r>
          </a:p>
        </p:txBody>
      </p:sp>
      <p:sp>
        <p:nvSpPr>
          <p:cNvPr id="13" name="Прямоугольник со скругленными углами 12"/>
          <p:cNvSpPr>
            <a:spLocks noGrp="1"/>
          </p:cNvSpPr>
          <p:nvPr/>
        </p:nvSpPr>
        <p:spPr>
          <a:xfrm>
            <a:off x="685800" y="2019300"/>
            <a:ext cx="105156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895350" y="21907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H1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1504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Personalized AI cover letters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4953000" y="2171700"/>
            <a:ext cx="433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Current generated text feels generic and still needs rewriting.</a:t>
            </a:r>
          </a:p>
        </p:txBody>
      </p:sp>
      <p:sp>
        <p:nvSpPr>
          <p:cNvPr id="17" name="Прямоугольник со скругленными углами 16"/>
          <p:cNvSpPr>
            <a:spLocks noGrp="1"/>
          </p:cNvSpPr>
          <p:nvPr/>
        </p:nvSpPr>
        <p:spPr>
          <a:xfrm>
            <a:off x="9496425" y="232410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EFF2E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9591675" y="23717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CONFIRMED</a:t>
            </a:r>
          </a:p>
        </p:txBody>
      </p:sp>
      <p:sp>
        <p:nvSpPr>
          <p:cNvPr id="19" name="Прямоугольник со скругленными углами 18"/>
          <p:cNvSpPr>
            <a:spLocks noGrp="1"/>
          </p:cNvSpPr>
          <p:nvPr/>
        </p:nvSpPr>
        <p:spPr>
          <a:xfrm>
            <a:off x="685800" y="3143250"/>
            <a:ext cx="10515600" cy="914400"/>
          </a:xfrm>
          <a:prstGeom prst="roundRect">
            <a:avLst>
              <a:gd name="adj" fmla="val 12500"/>
            </a:avLst>
          </a:prstGeom>
          <a:solidFill>
            <a:srgbClr val="E9F4E4"/>
          </a:solidFill>
          <a:ln w="19050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895350" y="3314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H2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1504950" y="32956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Portfolio integration</a:t>
            </a: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4953000" y="3295650"/>
            <a:ext cx="433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Projects are the main proof of skills; manual links look unstructured.</a:t>
            </a:r>
          </a:p>
        </p:txBody>
      </p:sp>
      <p:sp>
        <p:nvSpPr>
          <p:cNvPr id="23" name="Прямоугольник со скругленными углами 22"/>
          <p:cNvSpPr>
            <a:spLocks noGrp="1"/>
          </p:cNvSpPr>
          <p:nvPr/>
        </p:nvSpPr>
        <p:spPr>
          <a:xfrm>
            <a:off x="9496425" y="3448050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9591675" y="349567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4281"/>
          </a:bodyPr>
          <a:lstStyle/>
          <a:p>
            <a:pPr algn="ctr">
              <a:buNone/>
            </a:pPr>
            <a:r>
              <a:rPr sz="9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CONFIRMED · SELECTED</a:t>
            </a:r>
          </a:p>
        </p:txBody>
      </p:sp>
      <p:sp>
        <p:nvSpPr>
          <p:cNvPr id="25" name="Прямоугольник со скругленными углами 24"/>
          <p:cNvSpPr>
            <a:spLocks noGrp="1"/>
          </p:cNvSpPr>
          <p:nvPr/>
        </p:nvSpPr>
        <p:spPr>
          <a:xfrm>
            <a:off x="685800" y="4267200"/>
            <a:ext cx="105156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895350" y="44386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H3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1504950" y="44196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Transparent rejection reasons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4953000" y="4419600"/>
            <a:ext cx="43338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Generic rejection statuses do not show what candidates should improve.</a:t>
            </a:r>
          </a:p>
        </p:txBody>
      </p:sp>
      <p:sp>
        <p:nvSpPr>
          <p:cNvPr id="29" name="Прямоугольник со скругленными углами 28"/>
          <p:cNvSpPr>
            <a:spLocks noGrp="1"/>
          </p:cNvSpPr>
          <p:nvPr/>
        </p:nvSpPr>
        <p:spPr>
          <a:xfrm>
            <a:off x="9496425" y="4572000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EFF2E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9591675" y="461962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CONFIRMED</a:t>
            </a:r>
          </a:p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685800" y="55721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Rejected hypotheses: none</a:t>
            </a:r>
          </a:p>
        </p:txBody>
      </p:sp>
      <p:sp>
        <p:nvSpPr>
          <p:cNvPr id="32" name="Прямоугольник 31"/>
          <p:cNvSpPr>
            <a:spLocks noGrp="1"/>
          </p:cNvSpPr>
          <p:nvPr/>
        </p:nvSpPr>
        <p:spPr>
          <a:xfrm>
            <a:off x="4000500" y="5543550"/>
            <a:ext cx="720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12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H2 was selected because projects are the main proof of skills for this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SELECTED FEATURE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Structured portfolio evidence makes skills visible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selected hypothesis turns scattered project links into a native part of the application.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39" name="Изображение 3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742950" y="2038350"/>
            <a:ext cx="457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8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“Projects are more important than work experience because I do not have real commercial experience yet.”</a:t>
            </a: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742950" y="32766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Respondent 2</a:t>
            </a: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742950" y="3886200"/>
            <a:ext cx="4572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“I would like to connect GitHub directly, so the platform shows repositories, descriptions and technologies automatically.”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742950" y="50673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Respondent 3</a:t>
            </a:r>
          </a:p>
        </p:txBody>
      </p:sp>
      <p:sp>
        <p:nvSpPr>
          <p:cNvPr id="13" name="Линия 12"/>
          <p:cNvSpPr>
            <a:spLocks noGrp="1"/>
          </p:cNvSpPr>
          <p:nvPr/>
        </p:nvSpPr>
        <p:spPr>
          <a:xfrm>
            <a:off x="5943600" y="2114550"/>
            <a:ext cx="0" cy="3352800"/>
          </a:xfrm>
          <a:prstGeom prst="line">
            <a:avLst/>
          </a:prstGeom>
          <a:noFill/>
          <a:ln w="19050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6496050" y="20383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THE PROPOSED CHANGE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6496050" y="24003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991350" y="23812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Connect</a:t>
            </a: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8420100" y="24003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GitHub, Behance, Figma or manual links</a:t>
            </a:r>
          </a:p>
        </p:txBody>
      </p:sp>
      <p:sp>
        <p:nvSpPr>
          <p:cNvPr id="18" name="Линия 17"/>
          <p:cNvSpPr>
            <a:spLocks noGrp="1"/>
          </p:cNvSpPr>
          <p:nvPr/>
        </p:nvSpPr>
        <p:spPr>
          <a:xfrm>
            <a:off x="6496050" y="2895600"/>
            <a:ext cx="468630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6496050" y="31432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6991350" y="3124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8420100" y="31432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Project title, description, technologies and link</a:t>
            </a:r>
          </a:p>
        </p:txBody>
      </p:sp>
      <p:sp>
        <p:nvSpPr>
          <p:cNvPr id="22" name="Линия 21"/>
          <p:cNvSpPr>
            <a:spLocks noGrp="1"/>
          </p:cNvSpPr>
          <p:nvPr/>
        </p:nvSpPr>
        <p:spPr>
          <a:xfrm>
            <a:off x="6496050" y="3638550"/>
            <a:ext cx="468630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6496050" y="38862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6991350" y="38671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Reuse</a:t>
            </a: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8420100" y="38862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Save the portfolio block for future applications</a:t>
            </a:r>
          </a:p>
        </p:txBody>
      </p:sp>
      <p:sp>
        <p:nvSpPr>
          <p:cNvPr id="26" name="Линия 25"/>
          <p:cNvSpPr>
            <a:spLocks noGrp="1"/>
          </p:cNvSpPr>
          <p:nvPr/>
        </p:nvSpPr>
        <p:spPr>
          <a:xfrm>
            <a:off x="6496050" y="4381500"/>
            <a:ext cx="468630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6496050" y="46291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6991350" y="46101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Expose</a:t>
            </a:r>
          </a:p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8420100" y="46291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Attach selected evidence to the employer-facing snapshot</a:t>
            </a:r>
          </a:p>
        </p:txBody>
      </p:sp>
      <p:sp>
        <p:nvSpPr>
          <p:cNvPr id="30" name="Прямоугольник со скругленными углами 29"/>
          <p:cNvSpPr>
            <a:spLocks noGrp="1"/>
          </p:cNvSpPr>
          <p:nvPr/>
        </p:nvSpPr>
        <p:spPr>
          <a:xfrm>
            <a:off x="6496050" y="5476875"/>
            <a:ext cx="4686300" cy="514350"/>
          </a:xfrm>
          <a:prstGeom prst="roundRect">
            <a:avLst>
              <a:gd name="adj" fmla="val 18519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6686550" y="5619750"/>
            <a:ext cx="430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2917"/>
          </a:bodyPr>
          <a:lstStyle/>
          <a:p>
            <a:pPr algn="ctr">
              <a:buNone/>
            </a:pPr>
            <a:r>
              <a:rPr sz="12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Value: stronger evidence for candidates, faster review for employers.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2571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HIGH-LEVEL USE CASE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25717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022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Portfolio Integration extends UC-2 inside the hh.ru flow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03822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 candidate can complete the entire portfolio journey inside the application form.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66" name="Изображение 6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Линия 8"/>
          <p:cNvSpPr>
            <a:spLocks noGrp="1"/>
          </p:cNvSpPr>
          <p:nvPr/>
        </p:nvSpPr>
        <p:spPr>
          <a:xfrm>
            <a:off x="1924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Нашивка 9"/>
          <p:cNvSpPr>
            <a:spLocks noGrp="1"/>
          </p:cNvSpPr>
          <p:nvPr/>
        </p:nvSpPr>
        <p:spPr>
          <a:xfrm>
            <a:off x="2066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Линия 10"/>
          <p:cNvSpPr>
            <a:spLocks noGrp="1"/>
          </p:cNvSpPr>
          <p:nvPr/>
        </p:nvSpPr>
        <p:spPr>
          <a:xfrm>
            <a:off x="3448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Нашивка 11"/>
          <p:cNvSpPr>
            <a:spLocks noGrp="1"/>
          </p:cNvSpPr>
          <p:nvPr/>
        </p:nvSpPr>
        <p:spPr>
          <a:xfrm>
            <a:off x="3590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3" name="Линия 12"/>
          <p:cNvSpPr>
            <a:spLocks noGrp="1"/>
          </p:cNvSpPr>
          <p:nvPr/>
        </p:nvSpPr>
        <p:spPr>
          <a:xfrm>
            <a:off x="4972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Нашивка 13"/>
          <p:cNvSpPr>
            <a:spLocks noGrp="1"/>
          </p:cNvSpPr>
          <p:nvPr/>
        </p:nvSpPr>
        <p:spPr>
          <a:xfrm>
            <a:off x="5114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5" name="Линия 14"/>
          <p:cNvSpPr>
            <a:spLocks noGrp="1"/>
          </p:cNvSpPr>
          <p:nvPr/>
        </p:nvSpPr>
        <p:spPr>
          <a:xfrm>
            <a:off x="6496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Нашивка 15"/>
          <p:cNvSpPr>
            <a:spLocks noGrp="1"/>
          </p:cNvSpPr>
          <p:nvPr/>
        </p:nvSpPr>
        <p:spPr>
          <a:xfrm>
            <a:off x="6638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Линия 16"/>
          <p:cNvSpPr>
            <a:spLocks noGrp="1"/>
          </p:cNvSpPr>
          <p:nvPr/>
        </p:nvSpPr>
        <p:spPr>
          <a:xfrm>
            <a:off x="8020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Нашивка 17"/>
          <p:cNvSpPr>
            <a:spLocks noGrp="1"/>
          </p:cNvSpPr>
          <p:nvPr/>
        </p:nvSpPr>
        <p:spPr>
          <a:xfrm>
            <a:off x="8162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Линия 18"/>
          <p:cNvSpPr>
            <a:spLocks noGrp="1"/>
          </p:cNvSpPr>
          <p:nvPr/>
        </p:nvSpPr>
        <p:spPr>
          <a:xfrm>
            <a:off x="9544050" y="5524500"/>
            <a:ext cx="2476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Нашивка 19"/>
          <p:cNvSpPr>
            <a:spLocks noGrp="1"/>
          </p:cNvSpPr>
          <p:nvPr/>
        </p:nvSpPr>
        <p:spPr>
          <a:xfrm>
            <a:off x="9686925" y="5419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1" name="Прямоугольник со скругленными углами 20"/>
          <p:cNvSpPr>
            <a:spLocks noGrp="1"/>
          </p:cNvSpPr>
          <p:nvPr/>
        </p:nvSpPr>
        <p:spPr>
          <a:xfrm>
            <a:off x="685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800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800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800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Open the application</a:t>
            </a:r>
          </a:p>
        </p:txBody>
      </p:sp>
      <p:sp>
        <p:nvSpPr>
          <p:cNvPr id="25" name="Прямоугольник со скругленными углами 24"/>
          <p:cNvSpPr>
            <a:spLocks noGrp="1"/>
          </p:cNvSpPr>
          <p:nvPr/>
        </p:nvSpPr>
        <p:spPr>
          <a:xfrm>
            <a:off x="2209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2324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2324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Connect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2324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Choose source + consent</a:t>
            </a:r>
          </a:p>
        </p:txBody>
      </p:sp>
      <p:sp>
        <p:nvSpPr>
          <p:cNvPr id="29" name="Прямоугольник со скругленными углами 28"/>
          <p:cNvSpPr>
            <a:spLocks noGrp="1"/>
          </p:cNvSpPr>
          <p:nvPr/>
        </p:nvSpPr>
        <p:spPr>
          <a:xfrm>
            <a:off x="3733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3848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3848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Acquire</a:t>
            </a:r>
          </a:p>
        </p:txBody>
      </p:sp>
      <p:sp>
        <p:nvSpPr>
          <p:cNvPr id="32" name="Прямоугольник 31"/>
          <p:cNvSpPr>
            <a:spLocks noGrp="1"/>
          </p:cNvSpPr>
          <p:nvPr/>
        </p:nvSpPr>
        <p:spPr>
          <a:xfrm>
            <a:off x="3848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Import or enter links</a:t>
            </a:r>
          </a:p>
        </p:txBody>
      </p:sp>
      <p:sp>
        <p:nvSpPr>
          <p:cNvPr id="33" name="Прямоугольник со скругленными углами 32"/>
          <p:cNvSpPr>
            <a:spLocks noGrp="1"/>
          </p:cNvSpPr>
          <p:nvPr/>
        </p:nvSpPr>
        <p:spPr>
          <a:xfrm>
            <a:off x="5257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Прямоугольник 33"/>
          <p:cNvSpPr>
            <a:spLocks noGrp="1"/>
          </p:cNvSpPr>
          <p:nvPr/>
        </p:nvSpPr>
        <p:spPr>
          <a:xfrm>
            <a:off x="5372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5" name="Прямоугольник 34"/>
          <p:cNvSpPr>
            <a:spLocks noGrp="1"/>
          </p:cNvSpPr>
          <p:nvPr/>
        </p:nvSpPr>
        <p:spPr>
          <a:xfrm>
            <a:off x="5372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Curate</a:t>
            </a:r>
          </a:p>
        </p:txBody>
      </p:sp>
      <p:sp>
        <p:nvSpPr>
          <p:cNvPr id="36" name="Прямоугольник 35"/>
          <p:cNvSpPr>
            <a:spLocks noGrp="1"/>
          </p:cNvSpPr>
          <p:nvPr/>
        </p:nvSpPr>
        <p:spPr>
          <a:xfrm>
            <a:off x="5372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Select relevant projects</a:t>
            </a:r>
          </a:p>
        </p:txBody>
      </p:sp>
      <p:sp>
        <p:nvSpPr>
          <p:cNvPr id="37" name="Прямоугольник со скругленными углами 36"/>
          <p:cNvSpPr>
            <a:spLocks noGrp="1"/>
          </p:cNvSpPr>
          <p:nvPr/>
        </p:nvSpPr>
        <p:spPr>
          <a:xfrm>
            <a:off x="6781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Прямоугольник 37"/>
          <p:cNvSpPr>
            <a:spLocks noGrp="1"/>
          </p:cNvSpPr>
          <p:nvPr/>
        </p:nvSpPr>
        <p:spPr>
          <a:xfrm>
            <a:off x="6896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9" name="Прямоугольник 38"/>
          <p:cNvSpPr>
            <a:spLocks noGrp="1"/>
          </p:cNvSpPr>
          <p:nvPr/>
        </p:nvSpPr>
        <p:spPr>
          <a:xfrm>
            <a:off x="6896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Save</a:t>
            </a:r>
          </a:p>
        </p:txBody>
      </p:sp>
      <p:sp>
        <p:nvSpPr>
          <p:cNvPr id="40" name="Прямоугольник 39"/>
          <p:cNvSpPr>
            <a:spLocks noGrp="1"/>
          </p:cNvSpPr>
          <p:nvPr/>
        </p:nvSpPr>
        <p:spPr>
          <a:xfrm>
            <a:off x="6896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Validate portfolio block</a:t>
            </a:r>
          </a:p>
        </p:txBody>
      </p:sp>
      <p:sp>
        <p:nvSpPr>
          <p:cNvPr id="41" name="Прямоугольник со скругленными углами 40"/>
          <p:cNvSpPr>
            <a:spLocks noGrp="1"/>
          </p:cNvSpPr>
          <p:nvPr/>
        </p:nvSpPr>
        <p:spPr>
          <a:xfrm>
            <a:off x="8305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Прямоугольник 41"/>
          <p:cNvSpPr>
            <a:spLocks noGrp="1"/>
          </p:cNvSpPr>
          <p:nvPr/>
        </p:nvSpPr>
        <p:spPr>
          <a:xfrm>
            <a:off x="8420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3" name="Прямоугольник 42"/>
          <p:cNvSpPr>
            <a:spLocks noGrp="1"/>
          </p:cNvSpPr>
          <p:nvPr/>
        </p:nvSpPr>
        <p:spPr>
          <a:xfrm>
            <a:off x="8420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Submit</a:t>
            </a:r>
          </a:p>
        </p:txBody>
      </p:sp>
      <p:sp>
        <p:nvSpPr>
          <p:cNvPr id="44" name="Прямоугольник 43"/>
          <p:cNvSpPr>
            <a:spLocks noGrp="1"/>
          </p:cNvSpPr>
          <p:nvPr/>
        </p:nvSpPr>
        <p:spPr>
          <a:xfrm>
            <a:off x="8420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Attach to application</a:t>
            </a:r>
          </a:p>
        </p:txBody>
      </p:sp>
      <p:sp>
        <p:nvSpPr>
          <p:cNvPr id="45" name="Прямоугольник со скругленными углами 44"/>
          <p:cNvSpPr>
            <a:spLocks noGrp="1"/>
          </p:cNvSpPr>
          <p:nvPr/>
        </p:nvSpPr>
        <p:spPr>
          <a:xfrm>
            <a:off x="9829800" y="5019675"/>
            <a:ext cx="1257300" cy="1066800"/>
          </a:xfrm>
          <a:prstGeom prst="roundRect">
            <a:avLst>
              <a:gd name="adj" fmla="val 10714"/>
            </a:avLst>
          </a:prstGeom>
          <a:solidFill>
            <a:srgbClr val="E9F4E4"/>
          </a:solidFill>
          <a:ln w="19050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Прямоугольник 45"/>
          <p:cNvSpPr>
            <a:spLocks noGrp="1"/>
          </p:cNvSpPr>
          <p:nvPr/>
        </p:nvSpPr>
        <p:spPr>
          <a:xfrm>
            <a:off x="9944100" y="513397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7" name="Прямоугольник 46"/>
          <p:cNvSpPr>
            <a:spLocks noGrp="1"/>
          </p:cNvSpPr>
          <p:nvPr/>
        </p:nvSpPr>
        <p:spPr>
          <a:xfrm>
            <a:off x="9944100" y="5400675"/>
            <a:ext cx="1028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Review</a:t>
            </a:r>
          </a:p>
        </p:txBody>
      </p:sp>
      <p:sp>
        <p:nvSpPr>
          <p:cNvPr id="48" name="Прямоугольник 47"/>
          <p:cNvSpPr>
            <a:spLocks noGrp="1"/>
          </p:cNvSpPr>
          <p:nvPr/>
        </p:nvSpPr>
        <p:spPr>
          <a:xfrm>
            <a:off x="9944100" y="56864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Employer sees evidence</a:t>
            </a:r>
          </a:p>
        </p:txBody>
      </p:sp>
      <p:sp>
        <p:nvSpPr>
          <p:cNvPr id="49" name="Прямоугольник 48"/>
          <p:cNvSpPr>
            <a:spLocks noGrp="1"/>
          </p:cNvSpPr>
          <p:nvPr/>
        </p:nvSpPr>
        <p:spPr>
          <a:xfrm>
            <a:off x="611326" y="1943100"/>
            <a:ext cx="1028700" cy="330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JOB SEEKER</a:t>
            </a:r>
          </a:p>
        </p:txBody>
      </p:sp>
      <p:sp>
        <p:nvSpPr>
          <p:cNvPr id="50" name="Прямоугольник 49"/>
          <p:cNvSpPr>
            <a:spLocks noGrp="1"/>
          </p:cNvSpPr>
          <p:nvPr/>
        </p:nvSpPr>
        <p:spPr>
          <a:xfrm>
            <a:off x="609600" y="2152650"/>
            <a:ext cx="1828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Initiates, consents, selects, submits</a:t>
            </a:r>
          </a:p>
        </p:txBody>
      </p:sp>
      <p:sp>
        <p:nvSpPr>
          <p:cNvPr id="51" name="Прямоугольник 50"/>
          <p:cNvSpPr>
            <a:spLocks noGrp="1"/>
          </p:cNvSpPr>
          <p:nvPr/>
        </p:nvSpPr>
        <p:spPr>
          <a:xfrm>
            <a:off x="582751" y="2978111"/>
            <a:ext cx="1627049" cy="330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HH.RU</a:t>
            </a:r>
          </a:p>
        </p:txBody>
      </p:sp>
      <p:sp>
        <p:nvSpPr>
          <p:cNvPr id="52" name="Прямоугольник 51"/>
          <p:cNvSpPr>
            <a:spLocks noGrp="1"/>
          </p:cNvSpPr>
          <p:nvPr/>
        </p:nvSpPr>
        <p:spPr>
          <a:xfrm>
            <a:off x="581025" y="3128962"/>
            <a:ext cx="1857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Imports, validates, saves, creates snapshot</a:t>
            </a:r>
          </a:p>
        </p:txBody>
      </p:sp>
      <p:sp>
        <p:nvSpPr>
          <p:cNvPr id="53" name="Прямоугольник 52"/>
          <p:cNvSpPr>
            <a:spLocks noGrp="1"/>
          </p:cNvSpPr>
          <p:nvPr/>
        </p:nvSpPr>
        <p:spPr>
          <a:xfrm>
            <a:off x="9686925" y="1798676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EXTERNAL PLATFORM</a:t>
            </a:r>
          </a:p>
        </p:txBody>
      </p:sp>
      <p:sp>
        <p:nvSpPr>
          <p:cNvPr id="54" name="Прямоугольник 53"/>
          <p:cNvSpPr>
            <a:spLocks noGrp="1"/>
          </p:cNvSpPr>
          <p:nvPr/>
        </p:nvSpPr>
        <p:spPr>
          <a:xfrm>
            <a:off x="9686925" y="1989176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Authorizes and returns public data</a:t>
            </a:r>
          </a:p>
        </p:txBody>
      </p:sp>
      <p:sp>
        <p:nvSpPr>
          <p:cNvPr id="55" name="Прямоугольник 54"/>
          <p:cNvSpPr>
            <a:spLocks noGrp="1"/>
          </p:cNvSpPr>
          <p:nvPr/>
        </p:nvSpPr>
        <p:spPr>
          <a:xfrm>
            <a:off x="9686925" y="2855834"/>
            <a:ext cx="2171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EMPLOYER</a:t>
            </a:r>
          </a:p>
        </p:txBody>
      </p:sp>
      <p:sp>
        <p:nvSpPr>
          <p:cNvPr id="56" name="Прямоугольник 55"/>
          <p:cNvSpPr>
            <a:spLocks noGrp="1"/>
          </p:cNvSpPr>
          <p:nvPr/>
        </p:nvSpPr>
        <p:spPr>
          <a:xfrm>
            <a:off x="9686925" y="3020973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44"/>
          </a:bodyPr>
          <a:lstStyle/>
          <a:p>
            <a:pPr algn="l">
              <a:buNone/>
            </a:pPr>
            <a:r>
              <a:rPr sz="12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Reviews the application and portfolio</a:t>
            </a:r>
          </a:p>
        </p:txBody>
      </p:sp>
      <p:sp>
        <p:nvSpPr>
          <p:cNvPr id="67" name="Прямоугольник со скругленными углами 20"/>
          <p:cNvSpPr>
            <a:spLocks noGrp="1"/>
          </p:cNvSpPr>
          <p:nvPr/>
        </p:nvSpPr>
        <p:spPr>
          <a:xfrm>
            <a:off x="2647950" y="1376362"/>
            <a:ext cx="6896100" cy="3533775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pic>
        <p:nvPicPr>
          <p:cNvPr id="68" name="Изображение 6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03325" y="1472738"/>
            <a:ext cx="6585350" cy="3341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BUSINESS RULES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Four rules govern safe portfolio submission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portfolio flow inherits the same eligibility and submission controls as UC-2.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39" name="Изображение 3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723900" y="20478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APP-2</a:t>
            </a: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1619250" y="19907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Authentication</a:t>
            </a: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3733800" y="19812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Job Seeker must be logged in before submitting an application.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7905750" y="1981200"/>
            <a:ext cx="327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Links the saved portfolio to the correct account.</a:t>
            </a:r>
          </a:p>
        </p:txBody>
      </p:sp>
      <p:sp>
        <p:nvSpPr>
          <p:cNvPr id="13" name="Линия 12"/>
          <p:cNvSpPr>
            <a:spLocks noGrp="1"/>
          </p:cNvSpPr>
          <p:nvPr/>
        </p:nvSpPr>
        <p:spPr>
          <a:xfrm>
            <a:off x="723900" y="2619375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723900" y="28860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APP-3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1619250" y="28289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752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Vacancy availability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3733800" y="28194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An application can be submitted only while the vacancy is open.</a:t>
            </a: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7905750" y="2819400"/>
            <a:ext cx="327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Prevents portfolio submission into a closed process.</a:t>
            </a:r>
          </a:p>
        </p:txBody>
      </p:sp>
      <p:sp>
        <p:nvSpPr>
          <p:cNvPr id="18" name="Линия 17"/>
          <p:cNvSpPr>
            <a:spLocks noGrp="1"/>
          </p:cNvSpPr>
          <p:nvPr/>
        </p:nvSpPr>
        <p:spPr>
          <a:xfrm>
            <a:off x="723900" y="3457575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723900" y="37242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APP-4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1619250" y="36671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Mandatory data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3733800" y="36576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Required profile and resume fields must be complete.</a:t>
            </a: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7905750" y="3657600"/>
            <a:ext cx="327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Keeps the portfolio additive—not a replacement for required data.</a:t>
            </a:r>
          </a:p>
        </p:txBody>
      </p:sp>
      <p:sp>
        <p:nvSpPr>
          <p:cNvPr id="23" name="Линия 22"/>
          <p:cNvSpPr>
            <a:spLocks noGrp="1"/>
          </p:cNvSpPr>
          <p:nvPr/>
        </p:nvSpPr>
        <p:spPr>
          <a:xfrm>
            <a:off x="723900" y="4295775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723900" y="456247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APP-6</a:t>
            </a: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1619250" y="45053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5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Valid submission</a:t>
            </a:r>
          </a:p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3733800" y="44958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Valid confirmed data creates the record and sends it to the Employer.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7905750" y="4495800"/>
            <a:ext cx="327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Makes the portfolio part of the final application snapshot.</a:t>
            </a:r>
          </a:p>
        </p:txBody>
      </p:sp>
      <p:sp>
        <p:nvSpPr>
          <p:cNvPr id="28" name="Линия 27"/>
          <p:cNvSpPr>
            <a:spLocks noGrp="1"/>
          </p:cNvSpPr>
          <p:nvPr/>
        </p:nvSpPr>
        <p:spPr>
          <a:xfrm>
            <a:off x="723900" y="5133975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Прямоугольник со скругленными углами 28"/>
          <p:cNvSpPr>
            <a:spLocks noGrp="1"/>
          </p:cNvSpPr>
          <p:nvPr/>
        </p:nvSpPr>
        <p:spPr>
          <a:xfrm>
            <a:off x="723900" y="5381625"/>
            <a:ext cx="10458450" cy="590550"/>
          </a:xfrm>
          <a:prstGeom prst="roundRect">
            <a:avLst>
              <a:gd name="adj" fmla="val 16129"/>
            </a:avLst>
          </a:prstGeom>
          <a:solidFill>
            <a:srgbClr val="E9F4E4"/>
          </a:solidFill>
          <a:ln w="952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933450" y="5562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Feature safeguard</a:t>
            </a:r>
          </a:p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2571750" y="55340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333"/>
          </a:bodyPr>
          <a:lstStyle/>
          <a:p>
            <a:pPr algn="l">
              <a:buNone/>
            </a:pPr>
            <a:r>
              <a:rPr sz="12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Import only public project title, description, technologies and link—never private repositories or personal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952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BPMN PROCESS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20002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One pool, four lanes and a controlled fallback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90756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final model uses standard BPMN task types, sequence flows, one XOR branch and clear start/end events.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16" name="Изображение 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pic>
        <p:nvPicPr>
          <p:cNvPr id="17" name="Изображение 2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1450" y="1160859"/>
            <a:ext cx="12020550" cy="5258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FUNCTIONAL REQUIREMENTS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Ten requirements make the feature implementable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They are derived from the validated hypothesis, BPMN flow, dialog states and prototype behavior.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46" name="Изображение 4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685800" y="19812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CONNECT &amp; IMPORT</a:t>
            </a:r>
          </a:p>
        </p:txBody>
      </p:sp>
      <p:sp>
        <p:nvSpPr>
          <p:cNvPr id="10" name="Линия 9"/>
          <p:cNvSpPr>
            <a:spLocks noGrp="1"/>
          </p:cNvSpPr>
          <p:nvPr/>
        </p:nvSpPr>
        <p:spPr>
          <a:xfrm>
            <a:off x="685800" y="2286000"/>
            <a:ext cx="33337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685800" y="24955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PORT-01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85800" y="27432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Job Seeker shall be able to open Portfolio Integration.</a:t>
            </a: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685800" y="32385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PORT-02</a:t>
            </a: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685800" y="34861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Job Seeker shall be able to select a supported source beyond GitHub.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685800" y="39814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PORT-03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85800" y="42291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System shall request consent before authorization.</a:t>
            </a: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685800" y="47244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PORT-04</a:t>
            </a: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685800" y="49720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System shall import only public project metadata.</a:t>
            </a:r>
          </a:p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4429125" y="19812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REVIEW &amp; FALLBACK</a:t>
            </a:r>
          </a:p>
        </p:txBody>
      </p:sp>
      <p:sp>
        <p:nvSpPr>
          <p:cNvPr id="20" name="Линия 19"/>
          <p:cNvSpPr>
            <a:spLocks noGrp="1"/>
          </p:cNvSpPr>
          <p:nvPr/>
        </p:nvSpPr>
        <p:spPr>
          <a:xfrm>
            <a:off x="4429125" y="2286000"/>
            <a:ext cx="333375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4429125" y="24955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PORT-05</a:t>
            </a: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4429125" y="27432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System shall display imported projects for review.</a:t>
            </a:r>
          </a:p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4429125" y="32385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PORT-06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4429125" y="34861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Job Seeker shall be able to select relevant projects.</a:t>
            </a:r>
          </a:p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4429125" y="39814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PORT-07</a:t>
            </a:r>
          </a:p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4429125" y="42291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Job Seeker shall be able to edit descriptions or notes.</a:t>
            </a:r>
          </a:p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4429125" y="47244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PORT-08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4429125" y="49720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System shall provide manual entry if import fails.</a:t>
            </a:r>
          </a:p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8172450" y="198120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SAVE &amp; SUBMIT</a:t>
            </a:r>
          </a:p>
        </p:txBody>
      </p:sp>
      <p:sp>
        <p:nvSpPr>
          <p:cNvPr id="30" name="Линия 29"/>
          <p:cNvSpPr>
            <a:spLocks noGrp="1"/>
          </p:cNvSpPr>
          <p:nvPr/>
        </p:nvSpPr>
        <p:spPr>
          <a:xfrm>
            <a:off x="8172450" y="2286000"/>
            <a:ext cx="3009900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8172450" y="24955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PORT-09</a:t>
            </a:r>
          </a:p>
        </p:txBody>
      </p:sp>
      <p:sp>
        <p:nvSpPr>
          <p:cNvPr id="32" name="Прямоугольник 31"/>
          <p:cNvSpPr>
            <a:spLocks noGrp="1"/>
          </p:cNvSpPr>
          <p:nvPr/>
        </p:nvSpPr>
        <p:spPr>
          <a:xfrm>
            <a:off x="8172450" y="274320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If valid, the system shall save a reusable portfolio block.</a:t>
            </a:r>
          </a:p>
        </p:txBody>
      </p:sp>
      <p:sp>
        <p:nvSpPr>
          <p:cNvPr id="33" name="Прямоугольник 32"/>
          <p:cNvSpPr>
            <a:spLocks noGrp="1"/>
          </p:cNvSpPr>
          <p:nvPr/>
        </p:nvSpPr>
        <p:spPr>
          <a:xfrm>
            <a:off x="8172450" y="32385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0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PORT-10</a:t>
            </a:r>
          </a:p>
        </p:txBody>
      </p:sp>
      <p:sp>
        <p:nvSpPr>
          <p:cNvPr id="34" name="Прямоугольник 33"/>
          <p:cNvSpPr>
            <a:spLocks noGrp="1"/>
          </p:cNvSpPr>
          <p:nvPr/>
        </p:nvSpPr>
        <p:spPr>
          <a:xfrm>
            <a:off x="8172450" y="34861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System shall attach the block to the employer-visible snapshot.</a:t>
            </a:r>
          </a:p>
        </p:txBody>
      </p:sp>
      <p:sp>
        <p:nvSpPr>
          <p:cNvPr id="35" name="Прямоугольник со скругленными углами 34"/>
          <p:cNvSpPr>
            <a:spLocks noGrp="1"/>
          </p:cNvSpPr>
          <p:nvPr/>
        </p:nvSpPr>
        <p:spPr>
          <a:xfrm>
            <a:off x="8172450" y="4210050"/>
            <a:ext cx="3009900" cy="1428750"/>
          </a:xfrm>
          <a:prstGeom prst="roundRect">
            <a:avLst>
              <a:gd name="adj" fmla="val 8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6" name="Прямоугольник 35"/>
          <p:cNvSpPr>
            <a:spLocks noGrp="1"/>
          </p:cNvSpPr>
          <p:nvPr/>
        </p:nvSpPr>
        <p:spPr>
          <a:xfrm>
            <a:off x="8401050" y="44386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Traceability</a:t>
            </a:r>
          </a:p>
        </p:txBody>
      </p:sp>
      <p:sp>
        <p:nvSpPr>
          <p:cNvPr id="37" name="Прямоугольник 36"/>
          <p:cNvSpPr>
            <a:spLocks noGrp="1"/>
          </p:cNvSpPr>
          <p:nvPr/>
        </p:nvSpPr>
        <p:spPr>
          <a:xfrm>
            <a:off x="8401050" y="4800600"/>
            <a:ext cx="2533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Each requirement maps to a BPMN task and one or more dialog states.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DIALOG MAP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335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The dialog map covers success, errors and status review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It models screen transitions rather than backend sequence logic.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33" name="Изображение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со скругленными углами 8"/>
          <p:cNvSpPr>
            <a:spLocks noGrp="1"/>
          </p:cNvSpPr>
          <p:nvPr/>
        </p:nvSpPr>
        <p:spPr>
          <a:xfrm>
            <a:off x="514350" y="1809750"/>
            <a:ext cx="8096250" cy="4267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8991600" y="20764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S0–S4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9944100" y="20764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ENTRY</a:t>
            </a:r>
          </a:p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8991600" y="23812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Apply → connect portfolio → choose source → consent</a:t>
            </a:r>
          </a:p>
        </p:txBody>
      </p:sp>
      <p:sp>
        <p:nvSpPr>
          <p:cNvPr id="14" name="Линия 13"/>
          <p:cNvSpPr>
            <a:spLocks noGrp="1"/>
          </p:cNvSpPr>
          <p:nvPr/>
        </p:nvSpPr>
        <p:spPr>
          <a:xfrm>
            <a:off x="8991600" y="3076575"/>
            <a:ext cx="21907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8991600" y="32956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S5–S8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9944100" y="32956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RECOVERY</a:t>
            </a:r>
          </a:p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8991600" y="36004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Preview, validation errors and manual-link fallback</a:t>
            </a:r>
          </a:p>
        </p:txBody>
      </p:sp>
      <p:sp>
        <p:nvSpPr>
          <p:cNvPr id="18" name="Линия 17"/>
          <p:cNvSpPr>
            <a:spLocks noGrp="1"/>
          </p:cNvSpPr>
          <p:nvPr/>
        </p:nvSpPr>
        <p:spPr>
          <a:xfrm>
            <a:off x="8991600" y="4295775"/>
            <a:ext cx="21907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8991600" y="45148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S9–S12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9944100" y="4514850"/>
            <a:ext cx="1162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CLOSURE</a:t>
            </a:r>
          </a:p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8991600" y="4819650"/>
            <a:ext cx="2190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Saved block → review → confirmation → responses</a:t>
            </a:r>
          </a:p>
        </p:txBody>
      </p:sp>
      <p:sp>
        <p:nvSpPr>
          <p:cNvPr id="22" name="Прямоугольник со скругленными углами 21"/>
          <p:cNvSpPr>
            <a:spLocks noGrp="1"/>
          </p:cNvSpPr>
          <p:nvPr/>
        </p:nvSpPr>
        <p:spPr>
          <a:xfrm>
            <a:off x="8991600" y="5734050"/>
            <a:ext cx="2190750" cy="323850"/>
          </a:xfrm>
          <a:prstGeom prst="roundRect">
            <a:avLst>
              <a:gd name="adj" fmla="val 23529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9086850" y="58102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12 states · 2 recovery loops</a:t>
            </a:r>
          </a:p>
        </p:txBody>
      </p:sp>
      <p:pic>
        <p:nvPicPr>
          <p:cNvPr id="48" name="Изображение 3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883" y="1809750"/>
            <a:ext cx="7285284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со скругленными углами 10"/>
          <p:cNvSpPr>
            <a:spLocks noGrp="1"/>
          </p:cNvSpPr>
          <p:nvPr/>
        </p:nvSpPr>
        <p:spPr>
          <a:xfrm>
            <a:off x="8172450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Прямоугольник со скругленными углами 10"/>
          <p:cNvSpPr>
            <a:spLocks noGrp="1"/>
          </p:cNvSpPr>
          <p:nvPr/>
        </p:nvSpPr>
        <p:spPr>
          <a:xfrm>
            <a:off x="4174860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ELECTRONIC PROTOTYPE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Three new decisions appear inside the application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low-fidelity screens are embedded in a familiar hh.ru-like interface.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37" name="Изображение 3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638175" y="176726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923925" y="177165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Portfolio entry point</a:t>
            </a:r>
          </a:p>
        </p:txBody>
      </p:sp>
      <p:sp>
        <p:nvSpPr>
          <p:cNvPr id="11" name="Прямоугольник со скругленными углами 10"/>
          <p:cNvSpPr>
            <a:spLocks noGrp="1"/>
          </p:cNvSpPr>
          <p:nvPr/>
        </p:nvSpPr>
        <p:spPr>
          <a:xfrm>
            <a:off x="218282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pic>
        <p:nvPicPr>
          <p:cNvPr id="41" name="Изображение 3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7922" y="2091303"/>
            <a:ext cx="3759199" cy="2304673"/>
          </a:xfrm>
          <a:prstGeom prst="rect">
            <a:avLst/>
          </a:prstGeom>
        </p:spPr>
      </p:pic>
      <p:sp>
        <p:nvSpPr>
          <p:cNvPr id="13" name="Прямоугольник 12"/>
          <p:cNvSpPr>
            <a:spLocks noGrp="1"/>
          </p:cNvSpPr>
          <p:nvPr/>
        </p:nvSpPr>
        <p:spPr>
          <a:xfrm>
            <a:off x="394758" y="46005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A new Connect control appears beside resume and cover letter.</a:t>
            </a: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4405313" y="176726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4686300" y="1767265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Source and privacy</a:t>
            </a:r>
          </a:p>
        </p:txBody>
      </p:sp>
      <p:pic>
        <p:nvPicPr>
          <p:cNvPr id="46" name="Изображение 4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29672" y="2129215"/>
            <a:ext cx="3732656" cy="2228850"/>
          </a:xfrm>
          <a:prstGeom prst="rect">
            <a:avLst/>
          </a:prstGeom>
        </p:spPr>
      </p:pic>
      <p:sp>
        <p:nvSpPr>
          <p:cNvPr id="18" name="Прямоугольник 17"/>
          <p:cNvSpPr>
            <a:spLocks noGrp="1"/>
          </p:cNvSpPr>
          <p:nvPr/>
        </p:nvSpPr>
        <p:spPr>
          <a:xfrm>
            <a:off x="4381500" y="46005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Source selection includes consent context and a public-data boundary.</a:t>
            </a:r>
          </a:p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8172450" y="17907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8453438" y="1790700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Project curation</a:t>
            </a:r>
          </a:p>
        </p:txBody>
      </p:sp>
      <p:pic>
        <p:nvPicPr>
          <p:cNvPr id="51" name="Изображение 4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10550" y="2091303"/>
            <a:ext cx="3759198" cy="2266762"/>
          </a:xfrm>
          <a:prstGeom prst="rect">
            <a:avLst/>
          </a:prstGeom>
        </p:spPr>
      </p:pic>
      <p:sp>
        <p:nvSpPr>
          <p:cNvPr id="23" name="Прямоугольник 22"/>
          <p:cNvSpPr>
            <a:spLocks noGrp="1"/>
          </p:cNvSpPr>
          <p:nvPr/>
        </p:nvSpPr>
        <p:spPr>
          <a:xfrm>
            <a:off x="8410575" y="4600575"/>
            <a:ext cx="3009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59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Candidates select only vacancy-relevant projects and can add a note.</a:t>
            </a:r>
          </a:p>
        </p:txBody>
      </p:sp>
      <p:sp>
        <p:nvSpPr>
          <p:cNvPr id="24" name="Прямоугольник со скругленными углами 23"/>
          <p:cNvSpPr>
            <a:spLocks noGrp="1"/>
          </p:cNvSpPr>
          <p:nvPr/>
        </p:nvSpPr>
        <p:spPr>
          <a:xfrm>
            <a:off x="685800" y="5581650"/>
            <a:ext cx="10496550" cy="400050"/>
          </a:xfrm>
          <a:prstGeom prst="roundRect">
            <a:avLst>
              <a:gd name="adj" fmla="val 21429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876300" y="5686425"/>
            <a:ext cx="1011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4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Added UI: Connect action · source selector · privacy message · project relevance selection · employer note</a:t>
            </a:r>
            <a:endParaRPr sz="1125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со скругленными углами 10"/>
          <p:cNvSpPr>
            <a:spLocks noGrp="1"/>
          </p:cNvSpPr>
          <p:nvPr/>
        </p:nvSpPr>
        <p:spPr>
          <a:xfrm>
            <a:off x="8172450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Прямоугольник со скругленными углами 10"/>
          <p:cNvSpPr>
            <a:spLocks noGrp="1"/>
          </p:cNvSpPr>
          <p:nvPr/>
        </p:nvSpPr>
        <p:spPr>
          <a:xfrm>
            <a:off x="4171950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Прямоугольник со скругленными углами 10"/>
          <p:cNvSpPr>
            <a:spLocks noGrp="1"/>
          </p:cNvSpPr>
          <p:nvPr/>
        </p:nvSpPr>
        <p:spPr>
          <a:xfrm>
            <a:off x="218282" y="2057777"/>
            <a:ext cx="3918479" cy="2371725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ELECTRONIC PROTOTYPE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704850" y="46672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Fallback and confirmation keep the flow reliable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704850" y="11334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Fallback, employer visibility and confirmation close the most important uncertainty in the feature.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37" name="Изображение 3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685800" y="17335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1033462" y="173355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Manual fallback</a:t>
            </a:r>
          </a:p>
        </p:txBody>
      </p:sp>
      <p:pic>
        <p:nvPicPr>
          <p:cNvPr id="41" name="Изображение 3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867" y="2124075"/>
            <a:ext cx="3731683" cy="2209800"/>
          </a:xfrm>
          <a:prstGeom prst="rect">
            <a:avLst/>
          </a:prstGeom>
        </p:spPr>
      </p:pic>
      <p:sp>
        <p:nvSpPr>
          <p:cNvPr id="13" name="Прямоугольник 12"/>
          <p:cNvSpPr>
            <a:spLocks noGrp="1"/>
          </p:cNvSpPr>
          <p:nvPr/>
        </p:nvSpPr>
        <p:spPr>
          <a:xfrm>
            <a:off x="510646" y="46005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28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Failed import does not block the application: links are entered and validated.</a:t>
            </a:r>
          </a:p>
        </p:txBody>
      </p:sp>
      <p:sp>
        <p:nvSpPr>
          <p:cNvPr id="14" name="Прямоугольник 13"/>
          <p:cNvSpPr>
            <a:spLocks noGrp="1"/>
          </p:cNvSpPr>
          <p:nvPr/>
        </p:nvSpPr>
        <p:spPr>
          <a:xfrm>
            <a:off x="4429125" y="17335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4762499" y="1733550"/>
            <a:ext cx="2724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Employer-ready view</a:t>
            </a:r>
          </a:p>
        </p:txBody>
      </p:sp>
      <p:pic>
        <p:nvPicPr>
          <p:cNvPr id="46" name="Изображение 4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19575" y="2124075"/>
            <a:ext cx="3731683" cy="2209800"/>
          </a:xfrm>
          <a:prstGeom prst="rect">
            <a:avLst/>
          </a:prstGeom>
        </p:spPr>
      </p:pic>
      <p:sp>
        <p:nvSpPr>
          <p:cNvPr id="18" name="Прямоугольник 17"/>
          <p:cNvSpPr>
            <a:spLocks noGrp="1"/>
          </p:cNvSpPr>
          <p:nvPr/>
        </p:nvSpPr>
        <p:spPr>
          <a:xfrm>
            <a:off x="4429125" y="460057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review screen shows exactly what the employer receives.</a:t>
            </a:r>
          </a:p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8491537" y="173355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8796336" y="1733550"/>
            <a:ext cx="2400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Confirmed snapshot</a:t>
            </a:r>
          </a:p>
        </p:txBody>
      </p:sp>
      <p:pic>
        <p:nvPicPr>
          <p:cNvPr id="51" name="Изображение 4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48650" y="2124075"/>
            <a:ext cx="3731683" cy="2209800"/>
          </a:xfrm>
          <a:prstGeom prst="rect">
            <a:avLst/>
          </a:prstGeom>
        </p:spPr>
      </p:pic>
      <p:sp>
        <p:nvSpPr>
          <p:cNvPr id="23" name="Прямоугольник 22"/>
          <p:cNvSpPr>
            <a:spLocks noGrp="1"/>
          </p:cNvSpPr>
          <p:nvPr/>
        </p:nvSpPr>
        <p:spPr>
          <a:xfrm>
            <a:off x="8491537" y="4600575"/>
            <a:ext cx="3009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result confirms that the portfolio is attached and links to Responses.</a:t>
            </a:r>
          </a:p>
        </p:txBody>
      </p:sp>
      <p:sp>
        <p:nvSpPr>
          <p:cNvPr id="24" name="Прямоугольник со скругленными углами 23"/>
          <p:cNvSpPr>
            <a:spLocks noGrp="1"/>
          </p:cNvSpPr>
          <p:nvPr/>
        </p:nvSpPr>
        <p:spPr>
          <a:xfrm>
            <a:off x="695325" y="5591175"/>
            <a:ext cx="10496550" cy="400050"/>
          </a:xfrm>
          <a:prstGeom prst="roundRect">
            <a:avLst>
              <a:gd name="adj" fmla="val 21429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876300" y="5686425"/>
            <a:ext cx="1011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sz="14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The prototype tests the uncertain interaction—not final colors or visual design.</a:t>
            </a:r>
            <a:endParaRPr sz="1125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ELECTRONIC PROTOTYPE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466725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How the feature is added to the app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37" name="Изображение 3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24" name="Прямоугольник со скругленными углами 23"/>
          <p:cNvSpPr>
            <a:spLocks noGrp="1"/>
          </p:cNvSpPr>
          <p:nvPr/>
        </p:nvSpPr>
        <p:spPr>
          <a:xfrm>
            <a:off x="1332523" y="5915025"/>
            <a:ext cx="8358716" cy="400050"/>
          </a:xfrm>
          <a:prstGeom prst="roundRect">
            <a:avLst>
              <a:gd name="adj" fmla="val 21429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857250" y="6010275"/>
            <a:ext cx="1011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ctr">
              <a:buNone/>
            </a:pPr>
            <a:r>
              <a:rPr lang="en-US" sz="14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Portfolio import will be added in the "Resume and Profile" tab</a:t>
            </a:r>
            <a:endParaRPr sz="1600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3" name="Прямоугольник со скругленными углами 10"/>
          <p:cNvSpPr>
            <a:spLocks noGrp="1"/>
          </p:cNvSpPr>
          <p:nvPr/>
        </p:nvSpPr>
        <p:spPr>
          <a:xfrm>
            <a:off x="1332523" y="1228196"/>
            <a:ext cx="8358716" cy="4401608"/>
          </a:xfrm>
          <a:prstGeom prst="roundRect">
            <a:avLst>
              <a:gd name="adj" fmla="val 4211"/>
            </a:avLst>
          </a:prstGeom>
          <a:blipFill>
            <a:blip r:embed="rId2"/>
            <a:srcRect/>
            <a:stretch>
              <a:fillRect/>
            </a:stretch>
          </a:blip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THREE-LEVEL PRIORITIZATION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Seven High-priority items define the first release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scale balances the end-to-end happy path, business risk and delivery scope.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71" name="Изображение 6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Прямоугольник 8"/>
          <p:cNvSpPr>
            <a:spLocks noGrp="1"/>
          </p:cNvSpPr>
          <p:nvPr/>
        </p:nvSpPr>
        <p:spPr>
          <a:xfrm>
            <a:off x="685800" y="1962150"/>
            <a:ext cx="5143500" cy="352425"/>
          </a:xfrm>
          <a:prstGeom prst="rect">
            <a:avLst/>
          </a:prstGeom>
          <a:solidFill>
            <a:srgbClr val="111513"/>
          </a:solidFill>
          <a:ln w="9525">
            <a:solidFill>
              <a:srgbClr val="111513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Прямоугольник 9"/>
          <p:cNvSpPr>
            <a:spLocks noGrp="1"/>
          </p:cNvSpPr>
          <p:nvPr/>
        </p:nvSpPr>
        <p:spPr>
          <a:xfrm>
            <a:off x="857250" y="20383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Req. label</a:t>
            </a:r>
          </a:p>
        </p:txBody>
      </p:sp>
      <p:sp>
        <p:nvSpPr>
          <p:cNvPr id="11" name="Прямоугольник 10"/>
          <p:cNvSpPr>
            <a:spLocks noGrp="1"/>
          </p:cNvSpPr>
          <p:nvPr/>
        </p:nvSpPr>
        <p:spPr>
          <a:xfrm>
            <a:off x="4019550" y="20383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11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Priority</a:t>
            </a:r>
          </a:p>
        </p:txBody>
      </p:sp>
      <p:sp>
        <p:nvSpPr>
          <p:cNvPr id="12" name="Прямоугольник 11"/>
          <p:cNvSpPr>
            <a:spLocks noGrp="1"/>
          </p:cNvSpPr>
          <p:nvPr/>
        </p:nvSpPr>
        <p:spPr>
          <a:xfrm>
            <a:off x="685800" y="2314575"/>
            <a:ext cx="51435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Прямоугольник 12"/>
          <p:cNvSpPr>
            <a:spLocks noGrp="1"/>
          </p:cNvSpPr>
          <p:nvPr/>
        </p:nvSpPr>
        <p:spPr>
          <a:xfrm>
            <a:off x="857250" y="23907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PORT-01</a:t>
            </a:r>
          </a:p>
        </p:txBody>
      </p:sp>
      <p:sp>
        <p:nvSpPr>
          <p:cNvPr id="14" name="Прямоугольник со скругленными углами 13"/>
          <p:cNvSpPr>
            <a:spLocks noGrp="1"/>
          </p:cNvSpPr>
          <p:nvPr/>
        </p:nvSpPr>
        <p:spPr>
          <a:xfrm>
            <a:off x="4733925" y="23622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5" name="Прямоугольник 14"/>
          <p:cNvSpPr>
            <a:spLocks noGrp="1"/>
          </p:cNvSpPr>
          <p:nvPr/>
        </p:nvSpPr>
        <p:spPr>
          <a:xfrm>
            <a:off x="4829175" y="240982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16" name="Прямоугольник 15"/>
          <p:cNvSpPr>
            <a:spLocks noGrp="1"/>
          </p:cNvSpPr>
          <p:nvPr/>
        </p:nvSpPr>
        <p:spPr>
          <a:xfrm>
            <a:off x="685800" y="2667000"/>
            <a:ext cx="5143500" cy="352425"/>
          </a:xfrm>
          <a:prstGeom prst="rect">
            <a:avLst/>
          </a:prstGeom>
          <a:solidFill>
            <a:srgbClr val="EFF2E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857250" y="2743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PORT-02</a:t>
            </a:r>
          </a:p>
        </p:txBody>
      </p:sp>
      <p:sp>
        <p:nvSpPr>
          <p:cNvPr id="18" name="Прямоугольник со скругленными углами 17"/>
          <p:cNvSpPr>
            <a:spLocks noGrp="1"/>
          </p:cNvSpPr>
          <p:nvPr/>
        </p:nvSpPr>
        <p:spPr>
          <a:xfrm>
            <a:off x="4733925" y="27146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FF2D6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9" name="Прямоугольник 18"/>
          <p:cNvSpPr>
            <a:spLocks noGrp="1"/>
          </p:cNvSpPr>
          <p:nvPr/>
        </p:nvSpPr>
        <p:spPr>
          <a:xfrm>
            <a:off x="4829175" y="27622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8A5B00"/>
                </a:solidFill>
                <a:latin typeface="DejaVu Sans"/>
                <a:ea typeface="DejaVu Sans"/>
                <a:cs typeface="DejaVu Sans"/>
              </a:rPr>
              <a:t>MEDIUM</a:t>
            </a:r>
          </a:p>
        </p:txBody>
      </p:sp>
      <p:sp>
        <p:nvSpPr>
          <p:cNvPr id="20" name="Прямоугольник 19"/>
          <p:cNvSpPr>
            <a:spLocks noGrp="1"/>
          </p:cNvSpPr>
          <p:nvPr/>
        </p:nvSpPr>
        <p:spPr>
          <a:xfrm>
            <a:off x="685800" y="3019425"/>
            <a:ext cx="51435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857250" y="30956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PORT-03</a:t>
            </a:r>
          </a:p>
        </p:txBody>
      </p:sp>
      <p:sp>
        <p:nvSpPr>
          <p:cNvPr id="22" name="Прямоугольник со скругленными углами 21"/>
          <p:cNvSpPr>
            <a:spLocks noGrp="1"/>
          </p:cNvSpPr>
          <p:nvPr/>
        </p:nvSpPr>
        <p:spPr>
          <a:xfrm>
            <a:off x="4733925" y="30670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3" name="Прямоугольник 22"/>
          <p:cNvSpPr>
            <a:spLocks noGrp="1"/>
          </p:cNvSpPr>
          <p:nvPr/>
        </p:nvSpPr>
        <p:spPr>
          <a:xfrm>
            <a:off x="4829175" y="31146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24" name="Прямоугольник 23"/>
          <p:cNvSpPr>
            <a:spLocks noGrp="1"/>
          </p:cNvSpPr>
          <p:nvPr/>
        </p:nvSpPr>
        <p:spPr>
          <a:xfrm>
            <a:off x="685800" y="3371850"/>
            <a:ext cx="5143500" cy="352425"/>
          </a:xfrm>
          <a:prstGeom prst="rect">
            <a:avLst/>
          </a:prstGeom>
          <a:solidFill>
            <a:srgbClr val="EFF2E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857250" y="34480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PORT-04</a:t>
            </a:r>
          </a:p>
        </p:txBody>
      </p:sp>
      <p:sp>
        <p:nvSpPr>
          <p:cNvPr id="26" name="Прямоугольник со скругленными углами 25"/>
          <p:cNvSpPr>
            <a:spLocks noGrp="1"/>
          </p:cNvSpPr>
          <p:nvPr/>
        </p:nvSpPr>
        <p:spPr>
          <a:xfrm>
            <a:off x="4733925" y="341947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7" name="Прямоугольник 26"/>
          <p:cNvSpPr>
            <a:spLocks noGrp="1"/>
          </p:cNvSpPr>
          <p:nvPr/>
        </p:nvSpPr>
        <p:spPr>
          <a:xfrm>
            <a:off x="4829175" y="34671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28" name="Прямоугольник 27"/>
          <p:cNvSpPr>
            <a:spLocks noGrp="1"/>
          </p:cNvSpPr>
          <p:nvPr/>
        </p:nvSpPr>
        <p:spPr>
          <a:xfrm>
            <a:off x="685800" y="3724275"/>
            <a:ext cx="51435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857250" y="38004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PORT-05</a:t>
            </a:r>
          </a:p>
        </p:txBody>
      </p:sp>
      <p:sp>
        <p:nvSpPr>
          <p:cNvPr id="30" name="Прямоугольник со скругленными углами 29"/>
          <p:cNvSpPr>
            <a:spLocks noGrp="1"/>
          </p:cNvSpPr>
          <p:nvPr/>
        </p:nvSpPr>
        <p:spPr>
          <a:xfrm>
            <a:off x="4733925" y="37719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1" name="Прямоугольник 30"/>
          <p:cNvSpPr>
            <a:spLocks noGrp="1"/>
          </p:cNvSpPr>
          <p:nvPr/>
        </p:nvSpPr>
        <p:spPr>
          <a:xfrm>
            <a:off x="4829175" y="381952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32" name="Прямоугольник 31"/>
          <p:cNvSpPr>
            <a:spLocks noGrp="1"/>
          </p:cNvSpPr>
          <p:nvPr/>
        </p:nvSpPr>
        <p:spPr>
          <a:xfrm>
            <a:off x="685800" y="4076700"/>
            <a:ext cx="5143500" cy="352425"/>
          </a:xfrm>
          <a:prstGeom prst="rect">
            <a:avLst/>
          </a:prstGeom>
          <a:solidFill>
            <a:srgbClr val="EFF2E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Прямоугольник 32"/>
          <p:cNvSpPr>
            <a:spLocks noGrp="1"/>
          </p:cNvSpPr>
          <p:nvPr/>
        </p:nvSpPr>
        <p:spPr>
          <a:xfrm>
            <a:off x="857250" y="4152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PORT-06</a:t>
            </a:r>
          </a:p>
        </p:txBody>
      </p:sp>
      <p:sp>
        <p:nvSpPr>
          <p:cNvPr id="34" name="Прямоугольник со скругленными углами 33"/>
          <p:cNvSpPr>
            <a:spLocks noGrp="1"/>
          </p:cNvSpPr>
          <p:nvPr/>
        </p:nvSpPr>
        <p:spPr>
          <a:xfrm>
            <a:off x="4733925" y="41243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5" name="Прямоугольник 34"/>
          <p:cNvSpPr>
            <a:spLocks noGrp="1"/>
          </p:cNvSpPr>
          <p:nvPr/>
        </p:nvSpPr>
        <p:spPr>
          <a:xfrm>
            <a:off x="4829175" y="41719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36" name="Прямоугольник 35"/>
          <p:cNvSpPr>
            <a:spLocks noGrp="1"/>
          </p:cNvSpPr>
          <p:nvPr/>
        </p:nvSpPr>
        <p:spPr>
          <a:xfrm>
            <a:off x="685800" y="4429125"/>
            <a:ext cx="51435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Прямоугольник 36"/>
          <p:cNvSpPr>
            <a:spLocks noGrp="1"/>
          </p:cNvSpPr>
          <p:nvPr/>
        </p:nvSpPr>
        <p:spPr>
          <a:xfrm>
            <a:off x="857250" y="45053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PORT-07</a:t>
            </a:r>
          </a:p>
        </p:txBody>
      </p:sp>
      <p:sp>
        <p:nvSpPr>
          <p:cNvPr id="38" name="Прямоугольник со скругленными углами 37"/>
          <p:cNvSpPr>
            <a:spLocks noGrp="1"/>
          </p:cNvSpPr>
          <p:nvPr/>
        </p:nvSpPr>
        <p:spPr>
          <a:xfrm>
            <a:off x="4733925" y="44767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FF2E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39" name="Прямоугольник 38"/>
          <p:cNvSpPr>
            <a:spLocks noGrp="1"/>
          </p:cNvSpPr>
          <p:nvPr/>
        </p:nvSpPr>
        <p:spPr>
          <a:xfrm>
            <a:off x="4829175" y="452437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LOW</a:t>
            </a:r>
          </a:p>
        </p:txBody>
      </p:sp>
      <p:sp>
        <p:nvSpPr>
          <p:cNvPr id="40" name="Прямоугольник 39"/>
          <p:cNvSpPr>
            <a:spLocks noGrp="1"/>
          </p:cNvSpPr>
          <p:nvPr/>
        </p:nvSpPr>
        <p:spPr>
          <a:xfrm>
            <a:off x="685800" y="4781550"/>
            <a:ext cx="5143500" cy="352425"/>
          </a:xfrm>
          <a:prstGeom prst="rect">
            <a:avLst/>
          </a:prstGeom>
          <a:solidFill>
            <a:srgbClr val="EFF2E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Прямоугольник 40"/>
          <p:cNvSpPr>
            <a:spLocks noGrp="1"/>
          </p:cNvSpPr>
          <p:nvPr/>
        </p:nvSpPr>
        <p:spPr>
          <a:xfrm>
            <a:off x="857250" y="48577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PORT-08</a:t>
            </a:r>
          </a:p>
        </p:txBody>
      </p:sp>
      <p:sp>
        <p:nvSpPr>
          <p:cNvPr id="42" name="Прямоугольник со скругленными углами 41"/>
          <p:cNvSpPr>
            <a:spLocks noGrp="1"/>
          </p:cNvSpPr>
          <p:nvPr/>
        </p:nvSpPr>
        <p:spPr>
          <a:xfrm>
            <a:off x="4733925" y="482917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FF2D6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3" name="Прямоугольник 42"/>
          <p:cNvSpPr>
            <a:spLocks noGrp="1"/>
          </p:cNvSpPr>
          <p:nvPr/>
        </p:nvSpPr>
        <p:spPr>
          <a:xfrm>
            <a:off x="4829175" y="48768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8A5B00"/>
                </a:solidFill>
                <a:latin typeface="DejaVu Sans"/>
                <a:ea typeface="DejaVu Sans"/>
                <a:cs typeface="DejaVu Sans"/>
              </a:rPr>
              <a:t>MEDIUM</a:t>
            </a:r>
          </a:p>
        </p:txBody>
      </p:sp>
      <p:sp>
        <p:nvSpPr>
          <p:cNvPr id="44" name="Прямоугольник 43"/>
          <p:cNvSpPr>
            <a:spLocks noGrp="1"/>
          </p:cNvSpPr>
          <p:nvPr/>
        </p:nvSpPr>
        <p:spPr>
          <a:xfrm>
            <a:off x="685800" y="5133975"/>
            <a:ext cx="51435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Прямоугольник 44"/>
          <p:cNvSpPr>
            <a:spLocks noGrp="1"/>
          </p:cNvSpPr>
          <p:nvPr/>
        </p:nvSpPr>
        <p:spPr>
          <a:xfrm>
            <a:off x="857250" y="52101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PORT-09</a:t>
            </a:r>
          </a:p>
        </p:txBody>
      </p:sp>
      <p:sp>
        <p:nvSpPr>
          <p:cNvPr id="46" name="Прямоугольник со скругленными углами 45"/>
          <p:cNvSpPr>
            <a:spLocks noGrp="1"/>
          </p:cNvSpPr>
          <p:nvPr/>
        </p:nvSpPr>
        <p:spPr>
          <a:xfrm>
            <a:off x="4733925" y="51816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47" name="Прямоугольник 46"/>
          <p:cNvSpPr>
            <a:spLocks noGrp="1"/>
          </p:cNvSpPr>
          <p:nvPr/>
        </p:nvSpPr>
        <p:spPr>
          <a:xfrm>
            <a:off x="4829175" y="5229225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48" name="Прямоугольник 47"/>
          <p:cNvSpPr>
            <a:spLocks noGrp="1"/>
          </p:cNvSpPr>
          <p:nvPr/>
        </p:nvSpPr>
        <p:spPr>
          <a:xfrm>
            <a:off x="685800" y="5486400"/>
            <a:ext cx="5143500" cy="352425"/>
          </a:xfrm>
          <a:prstGeom prst="rect">
            <a:avLst/>
          </a:prstGeom>
          <a:solidFill>
            <a:srgbClr val="EFF2E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Прямоугольник 48"/>
          <p:cNvSpPr>
            <a:spLocks noGrp="1"/>
          </p:cNvSpPr>
          <p:nvPr/>
        </p:nvSpPr>
        <p:spPr>
          <a:xfrm>
            <a:off x="857250" y="5562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PORT-10</a:t>
            </a:r>
          </a:p>
        </p:txBody>
      </p:sp>
      <p:sp>
        <p:nvSpPr>
          <p:cNvPr id="50" name="Прямоугольник со скругленными углами 49"/>
          <p:cNvSpPr>
            <a:spLocks noGrp="1"/>
          </p:cNvSpPr>
          <p:nvPr/>
        </p:nvSpPr>
        <p:spPr>
          <a:xfrm>
            <a:off x="4733925" y="5534025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9F4E4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51" name="Прямоугольник 50"/>
          <p:cNvSpPr>
            <a:spLocks noGrp="1"/>
          </p:cNvSpPr>
          <p:nvPr/>
        </p:nvSpPr>
        <p:spPr>
          <a:xfrm>
            <a:off x="4829175" y="558165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</a:p>
        </p:txBody>
      </p:sp>
      <p:sp>
        <p:nvSpPr>
          <p:cNvPr id="52" name="Прямоугольник 51"/>
          <p:cNvSpPr>
            <a:spLocks noGrp="1"/>
          </p:cNvSpPr>
          <p:nvPr/>
        </p:nvSpPr>
        <p:spPr>
          <a:xfrm>
            <a:off x="6477000" y="1952625"/>
            <a:ext cx="1162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5700" b="1" i="0">
                <a:solidFill>
                  <a:srgbClr val="64B83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3" name="Прямоугольник 52"/>
          <p:cNvSpPr>
            <a:spLocks noGrp="1"/>
          </p:cNvSpPr>
          <p:nvPr/>
        </p:nvSpPr>
        <p:spPr>
          <a:xfrm>
            <a:off x="7058025" y="22764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2400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HIGH</a:t>
            </a:r>
            <a:endParaRPr sz="1350" b="1" i="0">
              <a:solidFill>
                <a:srgbClr val="377C2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4" name="Прямоугольник 53"/>
          <p:cNvSpPr>
            <a:spLocks noGrp="1"/>
          </p:cNvSpPr>
          <p:nvPr/>
        </p:nvSpPr>
        <p:spPr>
          <a:xfrm>
            <a:off x="6477000" y="28575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Core GitHub-first path, consent, data boundary, validation and employer visibility.</a:t>
            </a:r>
          </a:p>
        </p:txBody>
      </p:sp>
      <p:sp>
        <p:nvSpPr>
          <p:cNvPr id="55" name="Линия 54"/>
          <p:cNvSpPr>
            <a:spLocks noGrp="1"/>
          </p:cNvSpPr>
          <p:nvPr/>
        </p:nvSpPr>
        <p:spPr>
          <a:xfrm>
            <a:off x="6477000" y="3600450"/>
            <a:ext cx="47053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Прямоугольник 55"/>
          <p:cNvSpPr>
            <a:spLocks noGrp="1"/>
          </p:cNvSpPr>
          <p:nvPr/>
        </p:nvSpPr>
        <p:spPr>
          <a:xfrm>
            <a:off x="6477000" y="3681412"/>
            <a:ext cx="714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4000" b="1" i="0">
                <a:solidFill>
                  <a:srgbClr val="D89A2B"/>
                </a:solidFill>
                <a:latin typeface="DejaVu Sans"/>
                <a:ea typeface="DejaVu Sans"/>
                <a:cs typeface="DejaVu Sans"/>
              </a:rPr>
              <a:t>2</a:t>
            </a:r>
            <a:endParaRPr sz="3450" b="1" i="0">
              <a:solidFill>
                <a:srgbClr val="D89A2B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7" name="Прямоугольник 56"/>
          <p:cNvSpPr>
            <a:spLocks noGrp="1"/>
          </p:cNvSpPr>
          <p:nvPr/>
        </p:nvSpPr>
        <p:spPr>
          <a:xfrm>
            <a:off x="6915150" y="3867150"/>
            <a:ext cx="1095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600" b="1" i="0">
                <a:solidFill>
                  <a:srgbClr val="8A5B00"/>
                </a:solidFill>
                <a:latin typeface="DejaVu Sans"/>
                <a:ea typeface="DejaVu Sans"/>
                <a:cs typeface="DejaVu Sans"/>
              </a:rPr>
              <a:t>MEDIUM</a:t>
            </a:r>
            <a:endParaRPr sz="1200" b="1" i="0">
              <a:solidFill>
                <a:srgbClr val="8A5B0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8" name="Прямоугольник 57"/>
          <p:cNvSpPr>
            <a:spLocks noGrp="1"/>
          </p:cNvSpPr>
          <p:nvPr/>
        </p:nvSpPr>
        <p:spPr>
          <a:xfrm>
            <a:off x="6477000" y="43624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7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Sources beyond GitHub and manual resilience can follow the first controlled import.</a:t>
            </a:r>
          </a:p>
        </p:txBody>
      </p:sp>
      <p:sp>
        <p:nvSpPr>
          <p:cNvPr id="59" name="Линия 58"/>
          <p:cNvSpPr>
            <a:spLocks noGrp="1"/>
          </p:cNvSpPr>
          <p:nvPr/>
        </p:nvSpPr>
        <p:spPr>
          <a:xfrm>
            <a:off x="6477000" y="5067300"/>
            <a:ext cx="47053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Прямоугольник 59"/>
          <p:cNvSpPr>
            <a:spLocks noGrp="1"/>
          </p:cNvSpPr>
          <p:nvPr/>
        </p:nvSpPr>
        <p:spPr>
          <a:xfrm>
            <a:off x="6477000" y="5219700"/>
            <a:ext cx="714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315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1" name="Прямоугольник 60"/>
          <p:cNvSpPr>
            <a:spLocks noGrp="1"/>
          </p:cNvSpPr>
          <p:nvPr/>
        </p:nvSpPr>
        <p:spPr>
          <a:xfrm>
            <a:off x="6781800" y="532447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4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LOW</a:t>
            </a:r>
            <a:endParaRPr sz="1200" b="1" i="0">
              <a:solidFill>
                <a:srgbClr val="5E6862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2" name="Прямоугольник 61"/>
          <p:cNvSpPr>
            <a:spLocks noGrp="1"/>
          </p:cNvSpPr>
          <p:nvPr/>
        </p:nvSpPr>
        <p:spPr>
          <a:xfrm>
            <a:off x="7462839" y="5257800"/>
            <a:ext cx="3086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20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Editable narrative enrichment does not block the core portfolio evidence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Линия 8"/>
          <p:cNvSpPr>
            <a:spLocks noGrp="1"/>
          </p:cNvSpPr>
          <p:nvPr/>
        </p:nvSpPr>
        <p:spPr>
          <a:xfrm>
            <a:off x="3067050" y="4819650"/>
            <a:ext cx="1857375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Линия 10"/>
          <p:cNvSpPr>
            <a:spLocks noGrp="1"/>
          </p:cNvSpPr>
          <p:nvPr/>
        </p:nvSpPr>
        <p:spPr>
          <a:xfrm>
            <a:off x="6700837" y="4819650"/>
            <a:ext cx="1857375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" name="Прямоугольник 0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2" name="Прямоугольник 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975" b="1" i="0">
                <a:solidFill>
                  <a:srgbClr val="377C23"/>
                </a:solidFill>
                <a:latin typeface="DejaVu Sans"/>
                <a:ea typeface="DejaVu Sans"/>
                <a:cs typeface="DejaVu Sans"/>
              </a:rPr>
              <a:t>CONCLUSION</a:t>
            </a:r>
          </a:p>
        </p:txBody>
      </p:sp>
      <p:sp>
        <p:nvSpPr>
          <p:cNvPr id="3" name="Прямоугольник 2"/>
          <p:cNvSpPr>
            <a:spLocks noGrp="1"/>
          </p:cNvSpPr>
          <p:nvPr/>
        </p:nvSpPr>
        <p:spPr>
          <a:xfrm>
            <a:off x="685800" y="685800"/>
            <a:ext cx="10477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buNone/>
            </a:pPr>
            <a:r>
              <a:rPr sz="28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Portfolio Integration is ready for MVP validation</a:t>
            </a:r>
          </a:p>
        </p:txBody>
      </p:sp>
      <p:sp>
        <p:nvSpPr>
          <p:cNvPr id="4" name="Прямоугольник 3"/>
          <p:cNvSpPr>
            <a:spLocks noGrp="1"/>
          </p:cNvSpPr>
          <p:nvPr/>
        </p:nvSpPr>
        <p:spPr>
          <a:xfrm>
            <a:off x="685800" y="13525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The project connects user evidence to a concrete, testable change in hh.ru.</a:t>
            </a:r>
          </a:p>
        </p:txBody>
      </p:sp>
      <p:sp>
        <p:nvSpPr>
          <p:cNvPr id="5" name="Линия 4"/>
          <p:cNvSpPr>
            <a:spLocks noGrp="1"/>
          </p:cNvSpPr>
          <p:nvPr/>
        </p:nvSpPr>
        <p:spPr>
          <a:xfrm>
            <a:off x="685800" y="6419850"/>
            <a:ext cx="10458450" cy="0"/>
          </a:xfrm>
          <a:prstGeom prst="line">
            <a:avLst/>
          </a:prstGeom>
          <a:noFill/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Прямоугольник 6"/>
          <p:cNvSpPr>
            <a:spLocks noGrp="1"/>
          </p:cNvSpPr>
          <p:nvPr/>
        </p:nvSpPr>
        <p:spPr>
          <a:xfrm>
            <a:off x="10782300" y="64960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buNone/>
            </a:pPr>
            <a:r>
              <a:rPr sz="900" b="1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65" name="Изображение 4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72850" y="6457950"/>
            <a:ext cx="257175" cy="257175"/>
          </a:xfrm>
          <a:prstGeom prst="rect">
            <a:avLst/>
          </a:prstGeom>
        </p:spPr>
      </p:pic>
      <p:sp>
        <p:nvSpPr>
          <p:cNvPr id="9" name="Линия 8"/>
          <p:cNvSpPr>
            <a:spLocks noGrp="1"/>
          </p:cNvSpPr>
          <p:nvPr/>
        </p:nvSpPr>
        <p:spPr>
          <a:xfrm>
            <a:off x="2381250" y="2857500"/>
            <a:ext cx="1857375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Нашивка 9"/>
          <p:cNvSpPr>
            <a:spLocks noGrp="1"/>
          </p:cNvSpPr>
          <p:nvPr/>
        </p:nvSpPr>
        <p:spPr>
          <a:xfrm>
            <a:off x="4133850" y="275272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Линия 10"/>
          <p:cNvSpPr>
            <a:spLocks noGrp="1"/>
          </p:cNvSpPr>
          <p:nvPr/>
        </p:nvSpPr>
        <p:spPr>
          <a:xfrm>
            <a:off x="5686425" y="2847975"/>
            <a:ext cx="1857375" cy="0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Линия 12"/>
          <p:cNvSpPr>
            <a:spLocks noGrp="1"/>
          </p:cNvSpPr>
          <p:nvPr/>
        </p:nvSpPr>
        <p:spPr>
          <a:xfrm>
            <a:off x="8705849" y="3333750"/>
            <a:ext cx="0" cy="981075"/>
          </a:xfrm>
          <a:prstGeom prst="line">
            <a:avLst/>
          </a:prstGeom>
          <a:noFill/>
          <a:ln w="28575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Прямоугольник со скругленными углами 14"/>
          <p:cNvSpPr>
            <a:spLocks noGrp="1"/>
          </p:cNvSpPr>
          <p:nvPr/>
        </p:nvSpPr>
        <p:spPr>
          <a:xfrm>
            <a:off x="1354667" y="2343150"/>
            <a:ext cx="2302933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Прямоугольник 16"/>
          <p:cNvSpPr>
            <a:spLocks noGrp="1"/>
          </p:cNvSpPr>
          <p:nvPr/>
        </p:nvSpPr>
        <p:spPr>
          <a:xfrm>
            <a:off x="1600200" y="24860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47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validated hypotheses</a:t>
            </a:r>
          </a:p>
        </p:txBody>
      </p:sp>
      <p:sp>
        <p:nvSpPr>
          <p:cNvPr id="18" name="Прямоугольник 17"/>
          <p:cNvSpPr>
            <a:spLocks noGrp="1"/>
          </p:cNvSpPr>
          <p:nvPr/>
        </p:nvSpPr>
        <p:spPr>
          <a:xfrm>
            <a:off x="1600200" y="285750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Research evidence</a:t>
            </a:r>
          </a:p>
        </p:txBody>
      </p:sp>
      <p:sp>
        <p:nvSpPr>
          <p:cNvPr id="19" name="Прямоугольник со скругленными углами 18"/>
          <p:cNvSpPr>
            <a:spLocks noGrp="1"/>
          </p:cNvSpPr>
          <p:nvPr/>
        </p:nvSpPr>
        <p:spPr>
          <a:xfrm>
            <a:off x="4305300" y="2333625"/>
            <a:ext cx="2302933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Прямоугольник 20"/>
          <p:cNvSpPr>
            <a:spLocks noGrp="1"/>
          </p:cNvSpPr>
          <p:nvPr/>
        </p:nvSpPr>
        <p:spPr>
          <a:xfrm>
            <a:off x="4648200" y="24765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selected feature</a:t>
            </a:r>
          </a:p>
        </p:txBody>
      </p:sp>
      <p:sp>
        <p:nvSpPr>
          <p:cNvPr id="22" name="Прямоугольник 21"/>
          <p:cNvSpPr>
            <a:spLocks noGrp="1"/>
          </p:cNvSpPr>
          <p:nvPr/>
        </p:nvSpPr>
        <p:spPr>
          <a:xfrm>
            <a:off x="4648200" y="2847975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Portfolio Integration</a:t>
            </a:r>
          </a:p>
        </p:txBody>
      </p:sp>
      <p:sp>
        <p:nvSpPr>
          <p:cNvPr id="23" name="Прямоугольник со скругленными углами 22"/>
          <p:cNvSpPr>
            <a:spLocks noGrp="1"/>
          </p:cNvSpPr>
          <p:nvPr/>
        </p:nvSpPr>
        <p:spPr>
          <a:xfrm>
            <a:off x="7543800" y="2324100"/>
            <a:ext cx="2302933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Прямоугольник 24"/>
          <p:cNvSpPr>
            <a:spLocks noGrp="1"/>
          </p:cNvSpPr>
          <p:nvPr/>
        </p:nvSpPr>
        <p:spPr>
          <a:xfrm>
            <a:off x="7743826" y="2500312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coherent process</a:t>
            </a:r>
          </a:p>
        </p:txBody>
      </p:sp>
      <p:sp>
        <p:nvSpPr>
          <p:cNvPr id="26" name="Прямоугольник 25"/>
          <p:cNvSpPr>
            <a:spLocks noGrp="1"/>
          </p:cNvSpPr>
          <p:nvPr/>
        </p:nvSpPr>
        <p:spPr>
          <a:xfrm>
            <a:off x="7743826" y="2871787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BPMN + dialog map</a:t>
            </a:r>
          </a:p>
        </p:txBody>
      </p:sp>
      <p:sp>
        <p:nvSpPr>
          <p:cNvPr id="27" name="Прямоугольник со скругленными углами 26"/>
          <p:cNvSpPr>
            <a:spLocks noGrp="1"/>
          </p:cNvSpPr>
          <p:nvPr/>
        </p:nvSpPr>
        <p:spPr>
          <a:xfrm>
            <a:off x="7543800" y="4295775"/>
            <a:ext cx="23241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Прямоугольник 28"/>
          <p:cNvSpPr>
            <a:spLocks noGrp="1"/>
          </p:cNvSpPr>
          <p:nvPr/>
        </p:nvSpPr>
        <p:spPr>
          <a:xfrm>
            <a:off x="7691437" y="4460081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31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feature requirements</a:t>
            </a:r>
          </a:p>
        </p:txBody>
      </p:sp>
      <p:sp>
        <p:nvSpPr>
          <p:cNvPr id="30" name="Прямоугольник 29"/>
          <p:cNvSpPr>
            <a:spLocks noGrp="1"/>
          </p:cNvSpPr>
          <p:nvPr/>
        </p:nvSpPr>
        <p:spPr>
          <a:xfrm>
            <a:off x="7691437" y="4831556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Prioritized for MVP</a:t>
            </a:r>
          </a:p>
        </p:txBody>
      </p:sp>
      <p:sp>
        <p:nvSpPr>
          <p:cNvPr id="31" name="Прямоугольник со скругленными углами 30"/>
          <p:cNvSpPr>
            <a:spLocks noGrp="1"/>
          </p:cNvSpPr>
          <p:nvPr/>
        </p:nvSpPr>
        <p:spPr>
          <a:xfrm>
            <a:off x="4305300" y="4248150"/>
            <a:ext cx="2309813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7E2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Прямоугольник 32"/>
          <p:cNvSpPr>
            <a:spLocks noGrp="1"/>
          </p:cNvSpPr>
          <p:nvPr/>
        </p:nvSpPr>
        <p:spPr>
          <a:xfrm>
            <a:off x="4514850" y="4452937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prototype screens</a:t>
            </a:r>
          </a:p>
        </p:txBody>
      </p:sp>
      <p:sp>
        <p:nvSpPr>
          <p:cNvPr id="34" name="Прямоугольник 33"/>
          <p:cNvSpPr>
            <a:spLocks noGrp="1"/>
          </p:cNvSpPr>
          <p:nvPr/>
        </p:nvSpPr>
        <p:spPr>
          <a:xfrm>
            <a:off x="4514850" y="4824412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Happy path + fallback</a:t>
            </a:r>
          </a:p>
        </p:txBody>
      </p:sp>
      <p:sp>
        <p:nvSpPr>
          <p:cNvPr id="35" name="Прямоугольник со скругленными углами 34"/>
          <p:cNvSpPr>
            <a:spLocks noGrp="1"/>
          </p:cNvSpPr>
          <p:nvPr/>
        </p:nvSpPr>
        <p:spPr>
          <a:xfrm>
            <a:off x="1354667" y="4314825"/>
            <a:ext cx="2302933" cy="1047750"/>
          </a:xfrm>
          <a:prstGeom prst="roundRect">
            <a:avLst>
              <a:gd name="adj" fmla="val 10909"/>
            </a:avLst>
          </a:prstGeom>
          <a:solidFill>
            <a:srgbClr val="E9F4E4"/>
          </a:solidFill>
          <a:ln w="19050">
            <a:solidFill>
              <a:srgbClr val="64B83F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Прямоугольник 36"/>
          <p:cNvSpPr>
            <a:spLocks noGrp="1"/>
          </p:cNvSpPr>
          <p:nvPr/>
        </p:nvSpPr>
        <p:spPr>
          <a:xfrm>
            <a:off x="1600200" y="44672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35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usability validation</a:t>
            </a:r>
          </a:p>
        </p:txBody>
      </p:sp>
      <p:sp>
        <p:nvSpPr>
          <p:cNvPr id="38" name="Прямоугольник 37"/>
          <p:cNvSpPr>
            <a:spLocks noGrp="1"/>
          </p:cNvSpPr>
          <p:nvPr/>
        </p:nvSpPr>
        <p:spPr>
          <a:xfrm>
            <a:off x="1600200" y="4838700"/>
            <a:ext cx="186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buNone/>
            </a:pPr>
            <a:r>
              <a:rPr sz="1125" b="0" i="0">
                <a:solidFill>
                  <a:srgbClr val="5E6862"/>
                </a:solidFill>
                <a:latin typeface="DejaVu Sans"/>
                <a:ea typeface="DejaVu Sans"/>
                <a:cs typeface="DejaVu Sans"/>
              </a:rPr>
              <a:t>Students + recruiter review</a:t>
            </a:r>
          </a:p>
        </p:txBody>
      </p:sp>
      <p:sp>
        <p:nvSpPr>
          <p:cNvPr id="41" name="Прямоугольник 40"/>
          <p:cNvSpPr>
            <a:spLocks noGrp="1"/>
          </p:cNvSpPr>
          <p:nvPr/>
        </p:nvSpPr>
        <p:spPr>
          <a:xfrm>
            <a:off x="1047750" y="56959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545"/>
          </a:bodyPr>
          <a:lstStyle/>
          <a:p>
            <a:pPr algn="ctr">
              <a:buNone/>
            </a:pPr>
            <a:r>
              <a:rPr sz="1800" b="1" i="0">
                <a:solidFill>
                  <a:srgbClr val="111513"/>
                </a:solidFill>
                <a:latin typeface="DejaVu Sans"/>
                <a:ea typeface="DejaVu Sans"/>
                <a:cs typeface="DejaVu Sans"/>
              </a:rPr>
              <a:t>Structured project evidence helps junior candidates demonstrate skills and helps employers evaluate them faster.</a:t>
            </a:r>
            <a:endParaRPr sz="1650" b="1" i="0">
              <a:solidFill>
                <a:srgbClr val="11151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2" name="Нашивка 9"/>
          <p:cNvSpPr>
            <a:spLocks noGrp="1"/>
          </p:cNvSpPr>
          <p:nvPr/>
        </p:nvSpPr>
        <p:spPr>
          <a:xfrm rot="10800000">
            <a:off x="3657599" y="471487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53" name="Нашивка 9"/>
          <p:cNvSpPr>
            <a:spLocks noGrp="1"/>
          </p:cNvSpPr>
          <p:nvPr/>
        </p:nvSpPr>
        <p:spPr>
          <a:xfrm rot="10800000">
            <a:off x="6615112" y="471487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54" name="Нашивка 9"/>
          <p:cNvSpPr>
            <a:spLocks noGrp="1"/>
          </p:cNvSpPr>
          <p:nvPr/>
        </p:nvSpPr>
        <p:spPr>
          <a:xfrm rot="5400000">
            <a:off x="8620124" y="4105275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66" name="Нашивка 9"/>
          <p:cNvSpPr>
            <a:spLocks noGrp="1"/>
          </p:cNvSpPr>
          <p:nvPr/>
        </p:nvSpPr>
        <p:spPr>
          <a:xfrm>
            <a:off x="7372350" y="2743200"/>
            <a:ext cx="171450" cy="209550"/>
          </a:xfrm>
          <a:prstGeom prst="chevron">
            <a:avLst/>
          </a:prstGeom>
          <a:solidFill>
            <a:srgbClr val="64B83F"/>
          </a:solidFill>
          <a:ln w="0">
            <a:noFill/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Нияз</cp:lastModifiedBy>
  <dcterms:created xsi:type="dcterms:W3CDTF">2026-07-21T21:53:07.6220000Z</dcterms:created>
  <dcterms:modified xsi:type="dcterms:W3CDTF">2026-07-22T19:02:13Z</dcterms:modified>
</cp:coreProperties>
</file>